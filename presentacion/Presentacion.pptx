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8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153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4BFF9-FF6F-BA4F-EA63-2B23579A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5A5AA7-F874-CFC1-EDB6-ED6B31076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08517-EEE5-715F-66A4-0A6AF3F3D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A1952-99A3-0CF9-35B8-DD4B79805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184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61B12-11A2-7AD3-6079-0CEEEDAE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E248E-4F0B-4308-E3C1-F52E684E3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8D96B-829D-E336-C4D8-233ABFE3B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C85A4-258E-AEC5-5B92-2E26482004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51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100" b="1" kern="0" spc="4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DATA ENGINEERING · CIVICA</a:t>
            </a:r>
            <a:endParaRPr lang="es-ES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0" y="1182311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</a:t>
            </a:r>
            <a:r>
              <a:rPr lang="en-US" sz="3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NY + Jersey City  </a:t>
            </a:r>
          </a:p>
          <a:p>
            <a:pPr marL="0" indent="0" algn="ctr">
              <a:buNone/>
            </a:pPr>
            <a:r>
              <a:rPr lang="en-US" sz="3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</a:p>
          <a:p>
            <a:pPr marL="0" indent="0" algn="ctr">
              <a:buNone/>
            </a:pPr>
            <a:r>
              <a:rPr lang="en-US" sz="3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GHCN-Daily </a:t>
            </a:r>
            <a:endParaRPr lang="es-ES" sz="3800" noProof="0" dirty="0"/>
          </a:p>
        </p:txBody>
      </p:sp>
      <p:sp>
        <p:nvSpPr>
          <p:cNvPr id="5" name="Text 3"/>
          <p:cNvSpPr/>
          <p:nvPr/>
        </p:nvSpPr>
        <p:spPr>
          <a:xfrm>
            <a:off x="879438" y="3400137"/>
            <a:ext cx="4114800" cy="784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20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s-ES" sz="2000" noProof="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</a:t>
            </a:r>
            <a:endParaRPr lang="es-ES" sz="2000" noProof="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s-ES" sz="20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</a:t>
            </a:r>
            <a:r>
              <a:rPr lang="es-ES" sz="2000" noProof="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s-ES" sz="2000" noProof="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s-ES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45034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i="1" noProof="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r>
              <a:rPr lang="es-ES" sz="1300" i="1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300" i="1" noProof="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es-ES" sz="1300" i="1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SCD2 + </a:t>
            </a:r>
            <a:r>
              <a:rPr lang="es-ES" sz="1300" i="1" noProof="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r>
              <a:rPr lang="es-ES" sz="1300" i="1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ML.FORECAST  →  Power BI</a:t>
            </a:r>
            <a:endParaRPr lang="es-ES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6675120" y="3200400"/>
            <a:ext cx="1520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</a:t>
            </a:r>
            <a:r>
              <a:rPr lang="es-ES" sz="1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Lizaran</a:t>
            </a:r>
            <a:endParaRPr lang="es-ES" sz="1400" noProof="0" dirty="0"/>
          </a:p>
          <a:p>
            <a:pPr marL="0" indent="0">
              <a:buNone/>
            </a:pPr>
            <a:r>
              <a:rPr lang="es-ES" sz="12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s-ES" sz="1400" noProof="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26296D-23B4-8FF8-44F8-A631B96BD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640080"/>
            <a:ext cx="1886198" cy="23646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69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" cy="3291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r>
              <a:rPr lang="es-ES" sz="1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disponibles</a:t>
            </a:r>
            <a:endParaRPr lang="es-E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</a:t>
            </a:r>
            <a:r>
              <a:rPr lang="es-ES" sz="13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(NY + Jersey City)</a:t>
            </a:r>
            <a:endParaRPr lang="es-ES" sz="13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desde 2024 ~100M filas. Bronze trae basura: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ride_ids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duplicados,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corruptas,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 en LA.</a:t>
            </a:r>
            <a:endParaRPr lang="es-ES" sz="1300" noProof="0" dirty="0"/>
          </a:p>
          <a:p>
            <a:pPr marL="0" indent="0">
              <a:buNone/>
            </a:pP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GHCN-Daily</a:t>
            </a:r>
            <a:endParaRPr lang="es-ES" sz="1300" noProof="0" dirty="0"/>
          </a:p>
          <a:p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todas las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mundo. Filtrar a US. 8 elementos: TMAX, TMIN, PRCP, SNOW, SNWD, AWND, WSF2, WSF5. NOAA reescribe año cuando publica correcciones.</a:t>
            </a:r>
            <a:endParaRPr lang="es-ES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4617720" y="1280160"/>
            <a:ext cx="4069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9" name="Shape 7"/>
          <p:cNvSpPr/>
          <p:nvPr/>
        </p:nvSpPr>
        <p:spPr>
          <a:xfrm>
            <a:off x="4617720" y="1280160"/>
            <a:ext cx="73152" cy="3291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 responder</a:t>
            </a:r>
            <a:endParaRPr lang="es-ES" sz="1800" noProof="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usa mas? 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mes, día de semana, estación del año.</a:t>
            </a:r>
            <a:endParaRPr lang="es-ES" sz="12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bici y usuario domina?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casual.</a:t>
            </a:r>
            <a:endParaRPr lang="es-ES" sz="12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 el clima? 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temperatura, precipitación, nieve.</a:t>
            </a:r>
            <a:endParaRPr lang="es-ES" sz="1200" noProof="0" dirty="0"/>
          </a:p>
          <a:p>
            <a:pPr>
              <a:spcAft>
                <a:spcPts val="600"/>
              </a:spcAft>
            </a:pP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Cuantas correcciones publica NOAA? 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SCD2 por año.</a:t>
            </a:r>
            <a:endParaRPr lang="es-ES" sz="12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2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 “series” 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 sobre series temporales.</a:t>
            </a:r>
            <a:endParaRPr lang="es-ES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TOOLS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276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627632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s-ES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566928" y="19659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b="1" i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r>
              <a:rPr lang="es-ES" sz="10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Streams + </a:t>
            </a:r>
            <a:r>
              <a:rPr lang="es-ES" sz="1000" b="1" i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s-ES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566928" y="2331720"/>
            <a:ext cx="1408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Almacenamiento, COPY INTO desde S3 publico, orquestación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DAG de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2176272" y="1417320"/>
            <a:ext cx="16276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Shape 8"/>
          <p:cNvSpPr/>
          <p:nvPr/>
        </p:nvSpPr>
        <p:spPr>
          <a:xfrm>
            <a:off x="2176272" y="1417320"/>
            <a:ext cx="1627632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2176272" y="1417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1.12</a:t>
            </a:r>
            <a:endParaRPr lang="es-ES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2286000" y="19659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+ </a:t>
            </a:r>
            <a:r>
              <a:rPr lang="es-ES" sz="1000" b="1" i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s-ES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2286000" y="2331720"/>
            <a:ext cx="1408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/IA,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SCD2 NOAA,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singular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3895344" y="1417320"/>
            <a:ext cx="16276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5" name="Shape 13"/>
          <p:cNvSpPr/>
          <p:nvPr/>
        </p:nvSpPr>
        <p:spPr>
          <a:xfrm>
            <a:off x="3895344" y="1417320"/>
            <a:ext cx="1627632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3895344" y="1417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s-ES" sz="1400" noProof="0" dirty="0"/>
          </a:p>
        </p:txBody>
      </p:sp>
      <p:sp>
        <p:nvSpPr>
          <p:cNvPr id="17" name="Text 15"/>
          <p:cNvSpPr/>
          <p:nvPr/>
        </p:nvSpPr>
        <p:spPr>
          <a:xfrm>
            <a:off x="4005072" y="19659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b="1" i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Ingestor</a:t>
            </a:r>
            <a:r>
              <a:rPr lang="es-ES" sz="10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incremental</a:t>
            </a:r>
            <a:endParaRPr lang="es-ES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4005072" y="2331720"/>
            <a:ext cx="1408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extract_jc_to_stage.py: descarga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zips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Citi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PUT al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interno (NY 202604+, JC siempre).</a:t>
            </a:r>
            <a:endParaRPr lang="es-ES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5614416" y="1417320"/>
            <a:ext cx="16276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Shape 18"/>
          <p:cNvSpPr/>
          <p:nvPr/>
        </p:nvSpPr>
        <p:spPr>
          <a:xfrm>
            <a:off x="5614416" y="1417320"/>
            <a:ext cx="1627632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Text 19"/>
          <p:cNvSpPr/>
          <p:nvPr/>
        </p:nvSpPr>
        <p:spPr>
          <a:xfrm>
            <a:off x="5614416" y="1417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</a:t>
            </a:r>
            <a:endParaRPr lang="es-ES" sz="1400" noProof="0" dirty="0"/>
          </a:p>
        </p:txBody>
      </p:sp>
      <p:sp>
        <p:nvSpPr>
          <p:cNvPr id="22" name="Text 20"/>
          <p:cNvSpPr/>
          <p:nvPr/>
        </p:nvSpPr>
        <p:spPr>
          <a:xfrm>
            <a:off x="5724144" y="19659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b="1" i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r>
              <a:rPr lang="es-ES" sz="10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nativo</a:t>
            </a:r>
            <a:endParaRPr lang="es-ES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5724144" y="2331720"/>
            <a:ext cx="1408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SNOWFLAKE.ML.FORECAST sobre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fct_trips_daily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30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8 series (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ES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7333488" y="1417320"/>
            <a:ext cx="16276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25" name="Shape 23"/>
          <p:cNvSpPr/>
          <p:nvPr/>
        </p:nvSpPr>
        <p:spPr>
          <a:xfrm>
            <a:off x="7333488" y="1417320"/>
            <a:ext cx="1627632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6" name="Text 24"/>
          <p:cNvSpPr/>
          <p:nvPr/>
        </p:nvSpPr>
        <p:spPr>
          <a:xfrm>
            <a:off x="7333488" y="14173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s-ES" sz="1400" noProof="0" dirty="0"/>
          </a:p>
        </p:txBody>
      </p:sp>
      <p:sp>
        <p:nvSpPr>
          <p:cNvPr id="27" name="Text 25"/>
          <p:cNvSpPr/>
          <p:nvPr/>
        </p:nvSpPr>
        <p:spPr>
          <a:xfrm>
            <a:off x="7443216" y="196596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final</a:t>
            </a:r>
            <a:endParaRPr lang="es-ES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7443216" y="2331720"/>
            <a:ext cx="1408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Gold. Se realizan las graficas con los datos finales.</a:t>
            </a:r>
            <a:endParaRPr lang="es-ES" sz="1000" noProof="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BRONZE · SILVER · GOLD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</a:t>
            </a:r>
            <a:r>
              <a:rPr lang="es-ES" sz="2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54864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8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s-ES" sz="1800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606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i="1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{ENV}_CITYBIKE_BRONZE</a:t>
            </a:r>
            <a:endParaRPr lang="es-ES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CITYBIKE_TRIPS_NY (raw)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CITYBIKE_TRIPS_JC (raw)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NOAA_RAW_YEAR (raw)</a:t>
            </a:r>
            <a:endParaRPr lang="es-ES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VARCHAR. COPY INTO desde S3 +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internos. Streams +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28 cron NY.</a:t>
            </a:r>
            <a:endParaRPr lang="es-ES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606040" cy="5486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8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s-ES" sz="1800" noProof="0" dirty="0"/>
          </a:p>
        </p:txBody>
      </p:sp>
      <p:sp>
        <p:nvSpPr>
          <p:cNvPr id="12" name="Shape 10"/>
          <p:cNvSpPr/>
          <p:nvPr/>
        </p:nvSpPr>
        <p:spPr>
          <a:xfrm>
            <a:off x="3337560" y="1965960"/>
            <a:ext cx="2606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i="1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{ENV}_CITYBIKE_SILVER</a:t>
            </a:r>
            <a:endParaRPr lang="es-ES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stg_CityBike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stg_NOAA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snp_NOAA__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noaa_raw_year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(SCD2)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slv_trip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slv_station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slv_weather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_*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slv_city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slv_quality_flag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347472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+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950" noProof="0" dirty="0"/>
          </a:p>
        </p:txBody>
      </p:sp>
      <p:sp>
        <p:nvSpPr>
          <p:cNvPr id="16" name="Shape 14"/>
          <p:cNvSpPr/>
          <p:nvPr/>
        </p:nvSpPr>
        <p:spPr>
          <a:xfrm>
            <a:off x="6172200" y="1417320"/>
            <a:ext cx="2606040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Text 15"/>
          <p:cNvSpPr/>
          <p:nvPr/>
        </p:nvSpPr>
        <p:spPr>
          <a:xfrm>
            <a:off x="6172200" y="1417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8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s-ES" sz="1800" noProof="0" dirty="0"/>
          </a:p>
        </p:txBody>
      </p:sp>
      <p:sp>
        <p:nvSpPr>
          <p:cNvPr id="18" name="Shape 16"/>
          <p:cNvSpPr/>
          <p:nvPr/>
        </p:nvSpPr>
        <p:spPr>
          <a:xfrm>
            <a:off x="6172200" y="1965960"/>
            <a:ext cx="2606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9" name="Text 17"/>
          <p:cNvSpPr/>
          <p:nvPr/>
        </p:nvSpPr>
        <p:spPr>
          <a:xfrm>
            <a:off x="630936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i="1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{ENV}_CITYBIKE_GOLD</a:t>
            </a:r>
            <a:endParaRPr lang="es-ES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6355080" y="23317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dim_fecha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dim_city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MOBILITY: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_*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CLIMA: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fct_weather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_*,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_*</a:t>
            </a:r>
            <a:endParaRPr lang="es-ES" sz="11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fct_trips_weather</a:t>
            </a:r>
            <a:endParaRPr lang="es-ES" sz="1100" noProof="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 IA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s-ES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6309360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table.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enforcados. Power BI consume </a:t>
            </a:r>
            <a:r>
              <a:rPr lang="es-ES" sz="95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</a:t>
            </a:r>
            <a:r>
              <a:rPr lang="es-ES" sz="95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950" noProof="0" dirty="0"/>
          </a:p>
        </p:txBody>
      </p:sp>
      <p:sp>
        <p:nvSpPr>
          <p:cNvPr id="22" name="Text 20"/>
          <p:cNvSpPr/>
          <p:nvPr/>
        </p:nvSpPr>
        <p:spPr>
          <a:xfrm>
            <a:off x="3063240" y="2697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22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s-ES" sz="2200" noProof="0" dirty="0"/>
          </a:p>
        </p:txBody>
      </p:sp>
      <p:sp>
        <p:nvSpPr>
          <p:cNvPr id="23" name="Text 21"/>
          <p:cNvSpPr/>
          <p:nvPr/>
        </p:nvSpPr>
        <p:spPr>
          <a:xfrm>
            <a:off x="5897880" y="2697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22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s-ES" sz="2200" noProof="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SNOWFLAKE STREAMS + TASKS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· ingesta orquestada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846320" y="1417320"/>
            <a:ext cx="3840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49834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de </a:t>
            </a:r>
            <a:r>
              <a:rPr lang="es-ES" sz="12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r>
              <a:rPr lang="es-ES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(cron </a:t>
            </a:r>
            <a:r>
              <a:rPr lang="es-ES" sz="12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s-ES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28, 03:00 NY)</a:t>
            </a:r>
            <a:endParaRPr lang="es-ES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5029200" y="18745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s-ES" sz="1100" b="1" noProof="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TSK_BRONZE_MASTER  (</a:t>
            </a:r>
            <a:r>
              <a:rPr lang="es-ES" sz="1100" b="1" noProof="0" dirty="0" err="1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r>
              <a:rPr lang="es-ES" sz="1100" b="1" noProof="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ES" sz="1100" b="1" noProof="0" dirty="0" err="1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unico</a:t>
            </a:r>
            <a:r>
              <a:rPr lang="es-ES" sz="1100" b="1" noProof="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CRON)</a:t>
            </a:r>
            <a:endParaRPr lang="es-ES" sz="11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050" noProof="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TSK_BRONZE_CITYBIKE_NY  (S3 publico 2024-202603)</a:t>
            </a:r>
            <a:endParaRPr lang="es-ES" sz="11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050" noProof="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TSK_BRONZE_NY_INT_REFRESH  →  ONFILES  →  DRAIN</a:t>
            </a:r>
            <a:endParaRPr lang="es-ES" sz="11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050" noProof="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TSK_BRONZE_JC_REFRESH  →  ONFILES  →  DRAIN</a:t>
            </a:r>
            <a:endParaRPr lang="es-ES" sz="1100" noProof="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▼</a:t>
            </a:r>
            <a:endParaRPr lang="es-ES" sz="11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050" noProof="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TSK_BRONZE_NOAA  (WHEN </a:t>
            </a:r>
            <a:r>
              <a:rPr lang="es-ES" sz="1050" noProof="0" dirty="0" err="1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s-ES" sz="1050" noProof="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NY OR JC tiene datos)</a:t>
            </a:r>
            <a:endParaRPr lang="es-ES" sz="1100" noProof="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▼</a:t>
            </a:r>
            <a:endParaRPr lang="es-ES" sz="11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050" i="1" noProof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TSK_BRONZE_CITYBIKE_STREAMS_DRAIN  (cierre </a:t>
            </a:r>
            <a:r>
              <a:rPr lang="es-ES" sz="1050" i="1" noProof="0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</a:t>
            </a:r>
            <a:r>
              <a:rPr lang="es-ES" sz="1050" i="1" noProof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ES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 general</a:t>
            </a:r>
            <a:endParaRPr lang="es-E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s-ES" sz="12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</a:t>
            </a: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NY S3 publico 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(2024-202603, datos cerrados).</a:t>
            </a:r>
            <a:endParaRPr lang="es-ES" sz="12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ES" sz="12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</a:t>
            </a: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NY 202604+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interno (Python PUT —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publico corrupto).</a:t>
            </a:r>
            <a:endParaRPr lang="es-ES" sz="12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ES" sz="12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</a:t>
            </a: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JC 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interno.</a:t>
            </a:r>
            <a:endParaRPr lang="es-ES" sz="12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WHEN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Cierra con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el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2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ES" sz="12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</a:t>
            </a:r>
            <a:endParaRPr lang="es-ES" sz="12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con load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ON_ERROR=CONTINUE,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SCD2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MERGE incremental.</a:t>
            </a:r>
            <a:endParaRPr lang="es-ES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HISTORICO DE CORRECCIONES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SCD2 NOAA</a:t>
            </a:r>
            <a:endParaRPr lang="es-ES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reescribe años completos cuando publica correcciones</a:t>
            </a:r>
            <a:endParaRPr lang="es-ES" sz="1300" noProof="0" dirty="0"/>
          </a:p>
          <a:p>
            <a:pPr marL="0" indent="0">
              <a:spcAft>
                <a:spcPts val="12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q_flag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data_value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cambian sin previo aviso.</a:t>
            </a:r>
            <a:endParaRPr lang="es-ES" sz="1300" noProof="0" dirty="0"/>
          </a:p>
          <a:p>
            <a:pPr marL="0" indent="0">
              <a:buNone/>
            </a:pPr>
            <a:r>
              <a:rPr lang="es-ES" sz="13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13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s-ES" sz="1300" noProof="0" dirty="0"/>
          </a:p>
          <a:p>
            <a:pPr marL="0" indent="0">
              <a:spcAft>
                <a:spcPts val="12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check_cols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[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data_value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q_flag_category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]. Solo estos campos disparan nueva versión.</a:t>
            </a:r>
            <a:endParaRPr lang="es-ES" sz="1300" noProof="0" dirty="0"/>
          </a:p>
          <a:p>
            <a:pPr marL="0" indent="0">
              <a:buNone/>
            </a:pPr>
            <a:r>
              <a:rPr lang="es-ES" sz="13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scd_key</a:t>
            </a: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compuesto</a:t>
            </a:r>
            <a:endParaRPr lang="es-ES" sz="1300" noProof="0" dirty="0"/>
          </a:p>
          <a:p>
            <a:pPr marL="0" indent="0">
              <a:spcAft>
                <a:spcPts val="12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station_id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||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observation_date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||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Una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scd_key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puede tener N versiones.</a:t>
            </a:r>
            <a:endParaRPr lang="es-ES" sz="1300" noProof="0" dirty="0"/>
          </a:p>
          <a:p>
            <a:pPr marL="0" indent="0">
              <a:buNone/>
            </a:pPr>
            <a:r>
              <a:rPr lang="es-ES" sz="13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Exposicion</a:t>
            </a:r>
            <a:r>
              <a:rPr lang="es-ES" sz="13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BI</a:t>
            </a:r>
            <a:endParaRPr lang="es-ES" sz="1300" noProof="0" dirty="0"/>
          </a:p>
          <a:p>
            <a:pPr marL="0" indent="0"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fct_noaa_corrections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muestra todas las versiones con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is_current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is_superseded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4846320" y="1417320"/>
            <a:ext cx="3840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498348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r>
              <a:rPr lang="es-ES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SCD2</a:t>
            </a:r>
            <a:endParaRPr lang="es-ES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5029200" y="19659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6"/>
          <p:cNvSpPr/>
          <p:nvPr/>
        </p:nvSpPr>
        <p:spPr>
          <a:xfrm>
            <a:off x="5029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553212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ingesta</a:t>
            </a:r>
            <a:endParaRPr lang="es-ES" sz="1200" noProof="0" dirty="0"/>
          </a:p>
          <a:p>
            <a:pPr marL="0" indent="0">
              <a:buNone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→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dbt_valid_from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dbt_valid_to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NULL</a:t>
            </a:r>
            <a:endParaRPr lang="es-ES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5029200" y="28803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50292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5532120" y="2834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publica </a:t>
            </a:r>
            <a:r>
              <a:rPr lang="es-ES" sz="12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correccion</a:t>
            </a:r>
            <a:endParaRPr lang="es-ES" sz="1200" noProof="0" dirty="0"/>
          </a:p>
          <a:p>
            <a:pPr marL="0" indent="0">
              <a:buNone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fila vieja: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dbt_valid_to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s-ES" sz="1200" noProof="0" dirty="0"/>
          </a:p>
          <a:p>
            <a:pPr marL="0" indent="0">
              <a:buNone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fila nueva: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dbt_valid_from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s-ES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5029200" y="37947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5532120" y="3749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s-ES" sz="1200" noProof="0" dirty="0"/>
          </a:p>
          <a:p>
            <a:pPr marL="0" indent="0">
              <a:buNone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versiones por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scd_key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Solo una con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dbt_valid_to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NULL.</a:t>
            </a:r>
            <a:endParaRPr lang="es-ES" sz="1200" noProof="0" dirty="0"/>
          </a:p>
          <a:p>
            <a:pPr marL="0" indent="0">
              <a:buNone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is_current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is_superseded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s-ES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SEPARACION DE RESPONSABILIDADES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· limpieza y enriquecimiento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69080" cy="5486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</a:t>
            </a:r>
            <a:r>
              <a:rPr lang="es-ES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Intermedio</a:t>
            </a:r>
            <a:endParaRPr lang="es-ES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</a:t>
            </a: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</a:t>
            </a: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 tipos correctos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decimal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NY + JC en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stg_CityBike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rideable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member_casual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casual),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station_id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valido.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</a:t>
            </a:r>
            <a:r>
              <a:rPr lang="es-ES" sz="11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box NY/NJ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[40.4, 41],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lng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[-75, -73] — descarta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 (LA).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MERGE por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ride_id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ventana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load_ts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4617720" y="141732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406908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8"/>
          <p:cNvSpPr/>
          <p:nvPr/>
        </p:nvSpPr>
        <p:spPr>
          <a:xfrm>
            <a:off x="4617720" y="14173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</a:t>
            </a:r>
            <a:r>
              <a:rPr lang="es-ES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s-E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s-ES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ormalizado</a:t>
            </a:r>
            <a:endParaRPr lang="es-ES" sz="1600" b="1" noProof="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0" y="210312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Enriquecimiento + </a:t>
            </a: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slv_trip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trip_duration_min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ST_DISTANCE con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JOIN a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slv_station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distance_in_km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NULL si round-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&gt; 500 km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MD5 a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</a:t>
            </a:r>
            <a:r>
              <a:rPr lang="es-ES" sz="11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normalizados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slv_quality_flag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q_flag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slv_weather_element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Antes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3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slv_station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canonico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frecuencia +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last_seen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ES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SCHEMA-PER-DOMAIN PARA OWNERSHIP + PERMISOS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5 dominios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01168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s-ES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4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dim_fecha</a:t>
            </a:r>
            <a:endParaRPr lang="es-ES" sz="1400" noProof="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s-ES" sz="140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endParaRPr lang="es-ES" sz="14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4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dim_city</a:t>
            </a:r>
            <a:endParaRPr lang="es-ES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4154757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</a:t>
            </a:r>
            <a:r>
              <a:rPr lang="es-ES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compartidos por &gt; 1 dominio.</a:t>
            </a:r>
            <a:endParaRPr lang="es-ES" sz="900" noProof="0" dirty="0"/>
          </a:p>
        </p:txBody>
      </p:sp>
      <p:sp>
        <p:nvSpPr>
          <p:cNvPr id="9" name="Shape 7"/>
          <p:cNvSpPr/>
          <p:nvPr/>
        </p:nvSpPr>
        <p:spPr>
          <a:xfrm>
            <a:off x="256032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2011680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256032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s-ES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2697480" y="20116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(table, </a:t>
            </a: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.+</a:t>
            </a: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fct_trips_daily</a:t>
            </a:r>
            <a:endParaRPr lang="es-ES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dim_rideable_bike</a:t>
            </a:r>
            <a:endParaRPr lang="es-ES" sz="1200" noProof="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dim_station</a:t>
            </a:r>
            <a:endParaRPr lang="es-ES" sz="120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dim_user_type</a:t>
            </a:r>
            <a:endParaRPr lang="es-ES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269748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lado </a:t>
            </a:r>
            <a:r>
              <a:rPr lang="es-ES" sz="9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CityBike</a:t>
            </a:r>
            <a:r>
              <a:rPr lang="es-ES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~100M filas.</a:t>
            </a:r>
            <a:endParaRPr lang="es-ES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2011680" cy="457200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466344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</a:t>
            </a:r>
            <a:endParaRPr lang="es-ES" sz="1400" noProof="0" dirty="0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17949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fct_weather_daily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.)</a:t>
            </a:r>
            <a:endParaRPr lang="es-ES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fct_noaa_corrections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(table + </a:t>
            </a: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dim_station_weather</a:t>
            </a:r>
            <a:endParaRPr lang="es-ES" sz="120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dim_weather_element</a:t>
            </a:r>
            <a:endParaRPr lang="es-ES" sz="120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2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2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dim_quality_flag</a:t>
            </a:r>
            <a:endParaRPr lang="es-ES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4800600" y="4160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lado NOAA + SCD2 historia.</a:t>
            </a:r>
            <a:endParaRPr lang="es-ES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676656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Shape 18"/>
          <p:cNvSpPr/>
          <p:nvPr/>
        </p:nvSpPr>
        <p:spPr>
          <a:xfrm>
            <a:off x="6766560" y="1417320"/>
            <a:ext cx="20116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Text 19"/>
          <p:cNvSpPr/>
          <p:nvPr/>
        </p:nvSpPr>
        <p:spPr>
          <a:xfrm>
            <a:off x="676656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kern="0" spc="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s-ES" sz="1400" noProof="0" dirty="0"/>
          </a:p>
        </p:txBody>
      </p:sp>
      <p:sp>
        <p:nvSpPr>
          <p:cNvPr id="22" name="Text 20"/>
          <p:cNvSpPr/>
          <p:nvPr/>
        </p:nvSpPr>
        <p:spPr>
          <a:xfrm>
            <a:off x="6903720" y="201168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fct_trips_weather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-dominio)</a:t>
            </a:r>
          </a:p>
        </p:txBody>
      </p:sp>
      <p:sp>
        <p:nvSpPr>
          <p:cNvPr id="23" name="Text 21"/>
          <p:cNvSpPr/>
          <p:nvPr/>
        </p:nvSpPr>
        <p:spPr>
          <a:xfrm>
            <a:off x="690372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Cruces MOBILITY × CLIMA.</a:t>
            </a:r>
            <a:endParaRPr lang="es-ES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s-ES" sz="900" noProof="0" dirty="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9840B2BC-2A47-8D45-C27C-5B9487023CD3}"/>
              </a:ext>
            </a:extLst>
          </p:cNvPr>
          <p:cNvSpPr/>
          <p:nvPr/>
        </p:nvSpPr>
        <p:spPr>
          <a:xfrm>
            <a:off x="6766560" y="2948940"/>
            <a:ext cx="2011680" cy="45720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/>
          <a:lstStyle/>
          <a:p>
            <a:pPr algn="ctr"/>
            <a:r>
              <a:rPr lang="es-ES" noProof="0" dirty="0">
                <a:solidFill>
                  <a:schemeClr val="bg1"/>
                </a:solidFill>
              </a:rPr>
              <a:t>IA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AA8C43-0A26-1E74-1F59-B2C3EE57B522}"/>
              </a:ext>
            </a:extLst>
          </p:cNvPr>
          <p:cNvSpPr txBox="1"/>
          <p:nvPr/>
        </p:nvSpPr>
        <p:spPr>
          <a:xfrm>
            <a:off x="6687030" y="3527177"/>
            <a:ext cx="1862610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fct_forecast_trips</a:t>
            </a:r>
            <a:r>
              <a:rPr lang="es-E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r>
              <a:rPr lang="es-E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ML)</a:t>
            </a:r>
            <a:endParaRPr lang="es-E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1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rep_top_forecast_trips_monthly</a:t>
            </a:r>
            <a:endParaRPr lang="es-ES" sz="11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3F71296A-7803-1082-2281-CF086C86F116}"/>
              </a:ext>
            </a:extLst>
          </p:cNvPr>
          <p:cNvSpPr/>
          <p:nvPr/>
        </p:nvSpPr>
        <p:spPr>
          <a:xfrm>
            <a:off x="6926580" y="4389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IA.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CONTRACTS + TESTS EN TODAS LAS CAPAS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s-ES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s-ES" sz="28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modelos</a:t>
            </a:r>
            <a:endParaRPr lang="es-ES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tabla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slv_trip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{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true }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PK / NOT NULL a nivel tabla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NULL;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PK/FK informativos</a:t>
            </a:r>
            <a:endParaRPr lang="es-ES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 7"/>
          <p:cNvSpPr/>
          <p:nvPr/>
        </p:nvSpPr>
        <p:spPr>
          <a:xfrm>
            <a:off x="269748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genéricos</a:t>
            </a:r>
            <a:endParaRPr lang="es-ES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269748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</a:t>
            </a:r>
            <a:r>
              <a:rPr lang="es-ES" sz="2800" b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s-ES" sz="2800" noProof="0" dirty="0"/>
          </a:p>
        </p:txBody>
      </p:sp>
      <p:sp>
        <p:nvSpPr>
          <p:cNvPr id="11" name="Text 9"/>
          <p:cNvSpPr/>
          <p:nvPr/>
        </p:nvSpPr>
        <p:spPr>
          <a:xfrm>
            <a:off x="2697480" y="26517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not_null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PKs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accepted_values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categoricos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dbt_utils.expression_is_true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capa que ESTABLECE</a:t>
            </a:r>
            <a:endParaRPr lang="es-ES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singulares</a:t>
            </a:r>
            <a:endParaRPr lang="es-ES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480060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s-ES" sz="2800" b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s-ES" sz="2800" noProof="0" dirty="0"/>
          </a:p>
        </p:txBody>
      </p:sp>
      <p:sp>
        <p:nvSpPr>
          <p:cNvPr id="15" name="Text 13"/>
          <p:cNvSpPr/>
          <p:nvPr/>
        </p:nvSpPr>
        <p:spPr>
          <a:xfrm>
            <a:off x="4800600" y="26517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no_silent_drop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ride_ids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partial_month_detection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s-ES" sz="1000" noProof="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</a:t>
            </a:r>
            <a:r>
              <a:rPr lang="es-ES" sz="10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r>
              <a:rPr lang="es-E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s-ES" sz="10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r>
              <a:rPr lang="es-E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r>
              <a:rPr lang="es-E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s-ES" sz="1000" noProof="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weather_station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count_match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r>
              <a:rPr lang="es-E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s-ES" sz="10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</a:t>
            </a:r>
            <a:r>
              <a:rPr lang="es-E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s-ES" sz="1000" noProof="0" dirty="0">
              <a:solidFill>
                <a:srgbClr val="1A202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r>
              <a:rPr lang="es-E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(</a:t>
            </a:r>
            <a:r>
              <a:rPr lang="es-ES" sz="100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bronze_silver_count_diff</a:t>
            </a:r>
            <a:r>
              <a:rPr lang="es-E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s-ES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6766560" y="141732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Text 15"/>
          <p:cNvSpPr/>
          <p:nvPr/>
        </p:nvSpPr>
        <p:spPr>
          <a:xfrm>
            <a:off x="690372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r>
              <a:rPr lang="es-ES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3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s-ES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690372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s-ES" sz="2800" b="1" noProof="0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s-ES" sz="2800" noProof="0" dirty="0"/>
          </a:p>
        </p:txBody>
      </p:sp>
      <p:sp>
        <p:nvSpPr>
          <p:cNvPr id="19" name="Text 17"/>
          <p:cNvSpPr/>
          <p:nvPr/>
        </p:nvSpPr>
        <p:spPr>
          <a:xfrm>
            <a:off x="6903720" y="265176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slv_trip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NULL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r>
              <a:rPr lang="es-ES" sz="1000" dirty="0"/>
              <a:t> </a:t>
            </a:r>
          </a:p>
          <a:p>
            <a:pPr lvl="1">
              <a:spcAft>
                <a:spcPts val="400"/>
              </a:spcAft>
              <a:buSzPct val="100000"/>
            </a:pP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(round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" sz="1000" noProof="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fct_weather_daily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s-ES" sz="1000" noProof="0" dirty="0"/>
          </a:p>
          <a:p>
            <a:pPr>
              <a:spcAft>
                <a:spcPts val="400"/>
              </a:spcAft>
              <a:buSzPct val="100000"/>
            </a:pPr>
            <a:r>
              <a:rPr lang="es-E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escenarios 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ES" sz="10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snowy</a:t>
            </a:r>
            <a:r>
              <a:rPr lang="es-ES" sz="10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/...)</a:t>
            </a:r>
            <a:endParaRPr lang="es-ES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FORECAST 30 DIAS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ML.FORECAST con </a:t>
            </a:r>
            <a:r>
              <a:rPr lang="es-ES" sz="2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2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627632" cy="274320"/>
          </a:xfrm>
          <a:prstGeom prst="rect">
            <a:avLst/>
          </a:prstGeom>
          <a:solidFill>
            <a:srgbClr val="2C3E73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fct_trips_daily</a:t>
            </a:r>
            <a:endParaRPr lang="es-ES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series_key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city|bike|user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8 series. 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n_trips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950" noProof="0" dirty="0"/>
          </a:p>
        </p:txBody>
      </p:sp>
      <p:sp>
        <p:nvSpPr>
          <p:cNvPr id="9" name="Shape 7"/>
          <p:cNvSpPr/>
          <p:nvPr/>
        </p:nvSpPr>
        <p:spPr>
          <a:xfrm>
            <a:off x="2176272" y="155448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Shape 8"/>
          <p:cNvSpPr/>
          <p:nvPr/>
        </p:nvSpPr>
        <p:spPr>
          <a:xfrm>
            <a:off x="2176272" y="1554480"/>
            <a:ext cx="1627632" cy="274320"/>
          </a:xfrm>
          <a:prstGeom prst="rect">
            <a:avLst/>
          </a:prstGeom>
          <a:solidFill>
            <a:srgbClr val="2C3E73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2176272" y="1554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2267712" y="18745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IA_PREP_DATA</a:t>
            </a:r>
            <a:endParaRPr lang="es-ES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2267712" y="22402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formatea 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950" noProof="0" dirty="0"/>
          </a:p>
        </p:txBody>
      </p:sp>
      <p:sp>
        <p:nvSpPr>
          <p:cNvPr id="14" name="Shape 12"/>
          <p:cNvSpPr/>
          <p:nvPr/>
        </p:nvSpPr>
        <p:spPr>
          <a:xfrm>
            <a:off x="3895344" y="155448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15" name="Shape 13"/>
          <p:cNvSpPr/>
          <p:nvPr/>
        </p:nvSpPr>
        <p:spPr>
          <a:xfrm>
            <a:off x="3895344" y="1554480"/>
            <a:ext cx="1627632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3895344" y="1554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3986784" y="18745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SNOWFLAKE.ML.FORECAST</a:t>
            </a:r>
            <a:endParaRPr lang="es-ES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3986784" y="22402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sobre 10 series top + CALL 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 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950" noProof="0" dirty="0"/>
          </a:p>
        </p:txBody>
      </p:sp>
      <p:sp>
        <p:nvSpPr>
          <p:cNvPr id="19" name="Shape 17"/>
          <p:cNvSpPr/>
          <p:nvPr/>
        </p:nvSpPr>
        <p:spPr>
          <a:xfrm>
            <a:off x="5614416" y="155448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Shape 18"/>
          <p:cNvSpPr/>
          <p:nvPr/>
        </p:nvSpPr>
        <p:spPr>
          <a:xfrm>
            <a:off x="5614416" y="1554480"/>
            <a:ext cx="1627632" cy="274320"/>
          </a:xfrm>
          <a:prstGeom prst="rect">
            <a:avLst/>
          </a:prstGeom>
          <a:solidFill>
            <a:srgbClr val="2C3E73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Text 19"/>
          <p:cNvSpPr/>
          <p:nvPr/>
        </p:nvSpPr>
        <p:spPr>
          <a:xfrm>
            <a:off x="5614416" y="1554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ES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5705856" y="18745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PRONOSTICO_FINAL</a:t>
            </a:r>
            <a:endParaRPr lang="es-ES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5705856" y="22402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SERIES/TS/FORECAST/LOWER/UPPER.</a:t>
            </a:r>
            <a:endParaRPr lang="es-ES" sz="950" noProof="0" dirty="0"/>
          </a:p>
        </p:txBody>
      </p:sp>
      <p:sp>
        <p:nvSpPr>
          <p:cNvPr id="24" name="Shape 22"/>
          <p:cNvSpPr/>
          <p:nvPr/>
        </p:nvSpPr>
        <p:spPr>
          <a:xfrm>
            <a:off x="7333488" y="1554480"/>
            <a:ext cx="16276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25" name="Shape 23"/>
          <p:cNvSpPr/>
          <p:nvPr/>
        </p:nvSpPr>
        <p:spPr>
          <a:xfrm>
            <a:off x="7333488" y="1554480"/>
            <a:ext cx="1627632" cy="274320"/>
          </a:xfrm>
          <a:prstGeom prst="rect">
            <a:avLst/>
          </a:prstGeom>
          <a:solidFill>
            <a:srgbClr val="2C3E73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26" name="Text 24"/>
          <p:cNvSpPr/>
          <p:nvPr/>
        </p:nvSpPr>
        <p:spPr>
          <a:xfrm>
            <a:off x="7333488" y="155448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ES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7424928" y="187452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fct_forecast_trips</a:t>
            </a:r>
            <a:endParaRPr lang="es-ES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7424928" y="224028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denormaliza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dim_city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s-ES" sz="95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r>
              <a:rPr lang="es-ES" sz="95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/fecha.</a:t>
            </a:r>
            <a:endParaRPr lang="es-ES" sz="950" noProof="0" dirty="0"/>
          </a:p>
        </p:txBody>
      </p:sp>
      <p:sp>
        <p:nvSpPr>
          <p:cNvPr id="29" name="Text 27"/>
          <p:cNvSpPr/>
          <p:nvPr/>
        </p:nvSpPr>
        <p:spPr>
          <a:xfrm>
            <a:off x="2039112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s-ES" sz="1400" noProof="0" dirty="0"/>
          </a:p>
        </p:txBody>
      </p:sp>
      <p:sp>
        <p:nvSpPr>
          <p:cNvPr id="30" name="Text 28"/>
          <p:cNvSpPr/>
          <p:nvPr/>
        </p:nvSpPr>
        <p:spPr>
          <a:xfrm>
            <a:off x="3758184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s-ES" sz="1400" noProof="0" dirty="0"/>
          </a:p>
        </p:txBody>
      </p:sp>
      <p:sp>
        <p:nvSpPr>
          <p:cNvPr id="31" name="Text 29"/>
          <p:cNvSpPr/>
          <p:nvPr/>
        </p:nvSpPr>
        <p:spPr>
          <a:xfrm>
            <a:off x="5477256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s-ES" sz="1400" noProof="0" dirty="0"/>
          </a:p>
        </p:txBody>
      </p:sp>
      <p:sp>
        <p:nvSpPr>
          <p:cNvPr id="32" name="Text 30"/>
          <p:cNvSpPr/>
          <p:nvPr/>
        </p:nvSpPr>
        <p:spPr>
          <a:xfrm>
            <a:off x="7196328" y="2103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s-ES" sz="1400" noProof="0" dirty="0"/>
          </a:p>
        </p:txBody>
      </p:sp>
      <p:sp>
        <p:nvSpPr>
          <p:cNvPr id="33" name="Shape 31"/>
          <p:cNvSpPr/>
          <p:nvPr/>
        </p:nvSpPr>
        <p:spPr>
          <a:xfrm>
            <a:off x="457200" y="3200400"/>
            <a:ext cx="8229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34" name="Shape 32"/>
          <p:cNvSpPr/>
          <p:nvPr/>
        </p:nvSpPr>
        <p:spPr>
          <a:xfrm>
            <a:off x="457200" y="3200400"/>
            <a:ext cx="73152" cy="1417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5" name="Text 33"/>
          <p:cNvSpPr/>
          <p:nvPr/>
        </p:nvSpPr>
        <p:spPr>
          <a:xfrm>
            <a:off x="73152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rep_top_forecast_trips_monthly</a:t>
            </a:r>
            <a:endParaRPr lang="es-ES" sz="1400" noProof="0" dirty="0"/>
          </a:p>
        </p:txBody>
      </p:sp>
      <p:sp>
        <p:nvSpPr>
          <p:cNvPr id="36" name="Text 34"/>
          <p:cNvSpPr/>
          <p:nvPr/>
        </p:nvSpPr>
        <p:spPr>
          <a:xfrm>
            <a:off x="731520" y="3657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 ANALYTICS: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nombre_mes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predicted_n_trips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</a:t>
            </a:r>
            <a:r>
              <a:rPr lang="es-ES" sz="1100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1.</a:t>
            </a:r>
            <a:endParaRPr lang="es-ES" sz="11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el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pico esperado del mes, por ciudad, listo para visual "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en Power BI.</a:t>
            </a:r>
            <a:endParaRPr lang="es-ES" sz="11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ES" sz="11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Re-entrenamiento</a:t>
            </a:r>
            <a:r>
              <a:rPr lang="es-ES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tras --full-</a:t>
            </a:r>
            <a:r>
              <a:rPr lang="es-ES" sz="11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r>
              <a:rPr lang="es-ES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significativo, volver a correr </a:t>
            </a:r>
            <a:r>
              <a:rPr lang="es-ES" sz="11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Forecast.sql</a:t>
            </a:r>
            <a:r>
              <a:rPr lang="es-ES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1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r>
              <a:rPr lang="es-ES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run.</a:t>
            </a:r>
            <a:endParaRPr lang="es-ES" sz="1100" noProof="0" dirty="0"/>
          </a:p>
        </p:txBody>
      </p:sp>
      <p:sp>
        <p:nvSpPr>
          <p:cNvPr id="37" name="Text 3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AISLAMIENTO DE ENTORNOS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· DEV vs PRO</a:t>
            </a:r>
            <a:endParaRPr lang="es-ES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6908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 (</a:t>
            </a:r>
            <a:r>
              <a:rPr lang="es-ES" sz="1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personal)</a:t>
            </a:r>
            <a:endParaRPr lang="es-ES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11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DEV_CITYBIKE_*</a:t>
            </a:r>
            <a:endParaRPr lang="es-ES" sz="11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11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WH_NYCBIKE_DEV</a:t>
            </a:r>
            <a:endParaRPr lang="es-ES" sz="11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</a:t>
            </a: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11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r>
              <a:rPr lang="es-ES" sz="11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_&lt;usuario&gt;_&lt;</a:t>
            </a:r>
            <a:r>
              <a:rPr lang="es-ES" sz="1100" b="1" noProof="0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r>
              <a:rPr lang="es-ES" sz="11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s-ES" sz="11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r>
              <a:rPr lang="es-ES" sz="900" noProof="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DEV_CITYBIKE_GOLD.DBT_RLIZARAN_MOBILITY.FCT_TRIPS</a:t>
            </a:r>
            <a:endParaRPr lang="es-ES" sz="11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es-ES" sz="11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r>
              <a:rPr lang="es-ES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tiene su </a:t>
            </a:r>
            <a:r>
              <a:rPr lang="es-ES" sz="11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r>
              <a:rPr lang="es-ES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pisar a los demás.</a:t>
            </a:r>
            <a:endParaRPr lang="es-ES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4617720" y="141732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noProof="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406908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8"/>
          <p:cNvSpPr/>
          <p:nvPr/>
        </p:nvSpPr>
        <p:spPr>
          <a:xfrm>
            <a:off x="4617720" y="1417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 (entorno de producción)</a:t>
            </a:r>
            <a:endParaRPr lang="es-ES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4800600" y="201168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11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PRO_CITYBIKE_*</a:t>
            </a:r>
            <a:endParaRPr lang="es-ES" sz="11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s-ES" sz="11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WH_NYCBIKE_PRO (separado para atribución costes)</a:t>
            </a:r>
            <a:endParaRPr lang="es-ES" sz="11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</a:t>
            </a:r>
            <a:r>
              <a:rPr lang="es-ES" sz="1100" b="1" noProof="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 (sin prefijo)</a:t>
            </a:r>
            <a:endParaRPr lang="es-ES" sz="11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r>
              <a:rPr lang="es-ES" sz="900" noProof="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PRO_CITYBIKE_GOLD.MOBILITY.FCT_TRIPS</a:t>
            </a:r>
            <a:endParaRPr lang="es-ES" sz="11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ES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consume Power BI + ML.FORECAST.</a:t>
            </a:r>
            <a:endParaRPr lang="es-ES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s-ES" sz="9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CONSUMO FINAL</a:t>
            </a:r>
            <a:endParaRPr lang="es-E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</a:t>
            </a:r>
            <a:r>
              <a:rPr lang="es-ES" sz="2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s-ES" sz="2800" noProof="0" dirty="0"/>
          </a:p>
        </p:txBody>
      </p:sp>
      <p:sp>
        <p:nvSpPr>
          <p:cNvPr id="8" name="Text 6"/>
          <p:cNvSpPr/>
          <p:nvPr/>
        </p:nvSpPr>
        <p:spPr>
          <a:xfrm>
            <a:off x="4709160" y="39401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s-ES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300225" y="39401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dirty="0"/>
              <a:t>Total de Viajes por ciudad. Leyenda: tipo de clima</a:t>
            </a:r>
            <a:endParaRPr lang="es-ES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s-ES" sz="900" noProof="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3F09160-48EE-94CF-FCBA-445683DE1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45" y="1309486"/>
            <a:ext cx="4271775" cy="246919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C36718A-ED0E-1F21-320D-9858DDF9D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467" y="1309486"/>
            <a:ext cx="4480093" cy="2524527"/>
          </a:xfrm>
          <a:prstGeom prst="rect">
            <a:avLst/>
          </a:prstGeom>
        </p:spPr>
      </p:pic>
      <p:sp>
        <p:nvSpPr>
          <p:cNvPr id="22" name="Text 12">
            <a:extLst>
              <a:ext uri="{FF2B5EF4-FFF2-40B4-BE49-F238E27FC236}">
                <a16:creationId xmlns:a16="http://schemas.microsoft.com/office/drawing/2014/main" id="{62667640-0052-C6EE-F75A-06C84BA10DF4}"/>
              </a:ext>
            </a:extLst>
          </p:cNvPr>
          <p:cNvSpPr/>
          <p:nvPr/>
        </p:nvSpPr>
        <p:spPr>
          <a:xfrm>
            <a:off x="4572467" y="39401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dirty="0"/>
              <a:t>Promedio de </a:t>
            </a:r>
            <a:r>
              <a:rPr lang="es-ES" sz="1100" dirty="0" err="1"/>
              <a:t>TempMAX</a:t>
            </a:r>
            <a:r>
              <a:rPr lang="es-ES" sz="1100" dirty="0"/>
              <a:t>, Precipitación y Nieve </a:t>
            </a:r>
          </a:p>
          <a:p>
            <a:pPr marL="0" indent="0" algn="ctr">
              <a:buNone/>
            </a:pPr>
            <a:r>
              <a:rPr lang="es-ES" sz="1100" dirty="0"/>
              <a:t>Por ciudad y estación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94DAD-C0F8-0624-F5B4-E44ECC780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ED42B7-0956-C566-52E6-31C9ED95F87C}"/>
              </a:ext>
            </a:extLst>
          </p:cNvPr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CONSUMO FINAL</a:t>
            </a:r>
            <a:endParaRPr lang="es-ES" sz="11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25F754-4D6D-DF07-5B75-6D012D23E255}"/>
              </a:ext>
            </a:extLst>
          </p:cNvPr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</a:t>
            </a:r>
            <a:r>
              <a:rPr lang="es-ES" sz="2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s-ES" sz="28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BF28DAD-EF70-4C1C-CDC2-203626C5EDB8}"/>
              </a:ext>
            </a:extLst>
          </p:cNvPr>
          <p:cNvSpPr/>
          <p:nvPr/>
        </p:nvSpPr>
        <p:spPr>
          <a:xfrm>
            <a:off x="4709160" y="39401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s-ES" sz="11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B21A66E-A07C-5A25-CE23-5FD16826FE3E}"/>
              </a:ext>
            </a:extLst>
          </p:cNvPr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s-ES" sz="900" noProof="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D6CD6DE1-81D9-CF9D-BE29-019737099052}"/>
              </a:ext>
            </a:extLst>
          </p:cNvPr>
          <p:cNvSpPr/>
          <p:nvPr/>
        </p:nvSpPr>
        <p:spPr>
          <a:xfrm>
            <a:off x="4860048" y="3900459"/>
            <a:ext cx="3931920" cy="562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dirty="0"/>
              <a:t>Duración y Distancia Promedia</a:t>
            </a:r>
          </a:p>
          <a:p>
            <a:pPr marL="0" indent="0" algn="ctr">
              <a:buNone/>
            </a:pPr>
            <a:r>
              <a:rPr lang="es-ES" sz="1100" dirty="0"/>
              <a:t>Por Tipo de Miembro y Tipo de Bici</a:t>
            </a: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88C0356E-C0A1-2D54-ED20-A24CBD5C73AC}"/>
              </a:ext>
            </a:extLst>
          </p:cNvPr>
          <p:cNvSpPr/>
          <p:nvPr/>
        </p:nvSpPr>
        <p:spPr>
          <a:xfrm>
            <a:off x="457201" y="3900459"/>
            <a:ext cx="3931920" cy="562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dirty="0"/>
              <a:t>Suma de Viajes </a:t>
            </a:r>
          </a:p>
          <a:p>
            <a:pPr marL="0" indent="0" algn="ctr">
              <a:buNone/>
            </a:pPr>
            <a:r>
              <a:rPr lang="es-ES" sz="1100" dirty="0"/>
              <a:t>por </a:t>
            </a:r>
          </a:p>
          <a:p>
            <a:pPr marL="0" indent="0" algn="ctr">
              <a:buNone/>
            </a:pPr>
            <a:r>
              <a:rPr lang="es-ES" sz="1100" dirty="0"/>
              <a:t>Temperatura Maxima y Categoría de Clima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860926-5D94-465E-F3E2-0C1FE603E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7" y="1242528"/>
            <a:ext cx="4517663" cy="25461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FF36F6-25EC-175B-BA3D-30AB9D1F3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56" y="1283838"/>
            <a:ext cx="4453104" cy="250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93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8C70A-3973-9E4E-2045-3F74026AA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03D5CD-EF65-E361-667D-8C9DE595CC8E}"/>
              </a:ext>
            </a:extLst>
          </p:cNvPr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CONSUMO FINAL</a:t>
            </a:r>
            <a:endParaRPr lang="es-ES" sz="11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8DC0AB-6C42-AEFA-C0CC-AACF79DDB322}"/>
              </a:ext>
            </a:extLst>
          </p:cNvPr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</a:t>
            </a:r>
            <a:r>
              <a:rPr lang="es-ES" sz="2800" b="1" noProof="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s-ES" sz="28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267C32D-94EB-87AB-AE58-071BE4958D4A}"/>
              </a:ext>
            </a:extLst>
          </p:cNvPr>
          <p:cNvSpPr/>
          <p:nvPr/>
        </p:nvSpPr>
        <p:spPr>
          <a:xfrm>
            <a:off x="4709160" y="39401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s-ES" sz="11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335383B-BDE7-5017-B696-674C3BDB98F0}"/>
              </a:ext>
            </a:extLst>
          </p:cNvPr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s-ES" sz="900" noProof="0" dirty="0"/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728AF1BB-C707-AC8E-E782-979BBCFAD8DE}"/>
              </a:ext>
            </a:extLst>
          </p:cNvPr>
          <p:cNvSpPr/>
          <p:nvPr/>
        </p:nvSpPr>
        <p:spPr>
          <a:xfrm>
            <a:off x="1484636" y="4629635"/>
            <a:ext cx="5377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dirty="0"/>
              <a:t>Total viajes &gt; 42.000 por estación. Tamaño de burbuja y color por densidad de viajes</a:t>
            </a:r>
            <a:endParaRPr lang="es-ES" sz="11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B4E4EB-CD9E-FD76-0D31-1BE6043CD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867" y="1143000"/>
            <a:ext cx="5909953" cy="343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05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19630"/>
            <a:ext cx="54864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657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48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900377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kern="0" spc="3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construyo</a:t>
            </a:r>
            <a:endParaRPr lang="es-ES" sz="14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266137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completo Bronze → Silver → Gold con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s-E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SCD2 para captura de correcciones NOAA</a:t>
            </a:r>
            <a:endParaRPr lang="es-E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dividida en 4 dominios (CORE / MOBILITY / CLIMA / ANALYTICS)</a:t>
            </a:r>
            <a:endParaRPr lang="es-E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datos: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singular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s-ES" sz="1400" noProof="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ML.FORECAST integrado como modelo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r>
              <a:rPr lang="es-ES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s-ES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1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</a:t>
            </a:r>
            <a:r>
              <a:rPr lang="es-ES" sz="1100" noProof="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Lizaran</a:t>
            </a:r>
            <a:r>
              <a:rPr lang="es-ES" sz="11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rlizaran97@gmail.com</a:t>
            </a:r>
            <a:endParaRPr lang="es-ES" sz="1100" noProof="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51297A3-0EA4-1465-ECB5-344F2DE65BAA}"/>
              </a:ext>
            </a:extLst>
          </p:cNvPr>
          <p:cNvSpPr/>
          <p:nvPr/>
        </p:nvSpPr>
        <p:spPr>
          <a:xfrm>
            <a:off x="182880" y="3056229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4800" b="1" kern="0" spc="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</a:t>
            </a:r>
            <a:r>
              <a:rPr lang="es-ES" sz="4800" b="1" kern="0" spc="4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s-ES" sz="48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1866</Words>
  <Application>Microsoft Office PowerPoint</Application>
  <PresentationFormat>On-screen Show (16:9)</PresentationFormat>
  <Paragraphs>272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 + dbt Pipeline — CityBike + NOAA</dc:title>
  <dc:subject>PptxGenJS Presentation</dc:subject>
  <dc:creator>Rodrigo Lizaran</dc:creator>
  <cp:lastModifiedBy>de57</cp:lastModifiedBy>
  <cp:revision>6</cp:revision>
  <dcterms:created xsi:type="dcterms:W3CDTF">2026-05-19T07:41:25Z</dcterms:created>
  <dcterms:modified xsi:type="dcterms:W3CDTF">2026-05-20T10:14:48Z</dcterms:modified>
</cp:coreProperties>
</file>