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9" r:id="rId5"/>
    <p:sldId id="261" r:id="rId7"/>
    <p:sldId id="262" r:id="rId8"/>
    <p:sldId id="263" r:id="rId9"/>
    <p:sldId id="264" r:id="rId10"/>
    <p:sldId id="267" r:id="rId13"/>
    <p:sldId id="270" r:id="rId14"/>
    <p:sldId id="271" r:id="rId15"/>
    <p:sldId id="268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83" d="100"/>
          <a:sy n="83" d="100"/>
        </p:scale>
        <p:origin x="800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5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015321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STACK TECNICO (removido como slide, mencionar al abrir):</a:t>
            </a:r>
          </a:p>
          <a:p>
            <a:r>
              <a:t>- Snowflake: warehouse + COPY INTO + Streams + Tasks (orquestacion bronze).</a:t>
            </a:r>
          </a:p>
          <a:p>
            <a:r>
              <a:t>- dbt 1.12: transformaciones medallion, snapshot SCD2 NOAA, contracts, unit + singular + generic tests.</a:t>
            </a:r>
          </a:p>
          <a:p>
            <a:r>
              <a:t>- Python: ingestor incremental (extract_jc_to_stage.py) - descarga zips Citi Bike, PUT a stage interno.</a:t>
            </a:r>
          </a:p>
          <a:p>
            <a:r>
              <a:t>- Cortex ML: SNOWFLAKE.ML.FORECAST nativo - forecast 30 dias por serie.</a:t>
            </a:r>
          </a:p>
          <a:p>
            <a:r>
              <a:t>- Power BI: consume schemas Gold via DirectQuery/Import.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BRONZE INGESTA (removida como slide):</a:t>
            </a:r>
          </a:p>
          <a:p>
            <a:r>
              <a:t>- TSK_BRONZE_MASTER (root unico CRON 0 3 28 * * NY) lanza 3 chains paralelas:</a:t>
            </a:r>
          </a:p>
          <a:p>
            <a:r>
              <a:t>   1) TSK_BRONZE_CITYBIKE_NY: COPY desde S3 publico (datos cerrados 2024-202603).</a:t>
            </a:r>
          </a:p>
          <a:p>
            <a:r>
              <a:t>   2) TSK_BRONZE_NY_INT_REFRESH -&gt; ONFILES -&gt; DRAIN: NY interno via Python PUT (202604+, Citi Bike cambio formato y el bucket publico esta corrupto).</a:t>
            </a:r>
          </a:p>
          <a:p>
            <a:r>
              <a:t>   3) TSK_BRONZE_JC_REFRESH -&gt; ONFILES -&gt; DRAIN: JC siempre via Python PUT.</a:t>
            </a:r>
          </a:p>
          <a:p>
            <a:r>
              <a:t>- Despues: TSK_BRONZE_NOAA con AFTER las 3 chains + WHEN streams citybike tienen datos.</a:t>
            </a:r>
          </a:p>
          <a:p>
            <a:r>
              <a:t>- Cierra con TSK_BRONZE_CITYBIKE_STREAMS_DRAIN para que el WHEN del proximo cycle empiece limpio.</a:t>
            </a:r>
          </a:p>
          <a:p>
            <a:r>
              <a:t>- Idempotencia: COPY INTO con load metadata (FORCE=FALSE), ON_ERROR=CONTINUE, snapshot SCD2 dedup, MERGE incremental aguas abajo.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IA / ML.FORECAST (removida como slide, mencionar si hay tiempo):</a:t>
            </a:r>
          </a:p>
          <a:p>
            <a:r>
              <a:t>- fct_trips_daily tiene series_key = city_id|rideable_type_code|user_type_code -&gt; 8 series potenciales (2 cities x 2 bikes x 2 users).</a:t>
            </a:r>
          </a:p>
          <a:p>
            <a:r>
              <a:t>- Snowflake.ML.FORECAST entrenado sobre top 10 series con mas datos.</a:t>
            </a:r>
          </a:p>
          <a:p>
            <a:r>
              <a:t>- CALL FORECAST_TEST!FORECAST(FORECASTING_PERIODS =&gt; 30) -&gt; PRONOSTICO_FINAL.</a:t>
            </a:r>
          </a:p>
          <a:p>
            <a:r>
              <a:t>- Modelos dbt downstream en models/IA/:</a:t>
            </a:r>
          </a:p>
          <a:p>
            <a:r>
              <a:t>   - fct_forecast_trips: denormaliza el forecast crudo contra dim_city, dim_rideable_bike, dim_user_type, dim_fecha.</a:t>
            </a:r>
          </a:p>
          <a:p>
            <a:r>
              <a:t>   - rep_top_forecast_trips_monthly: row_number() para sacar el dia pico esperado por (city, mes).</a:t>
            </a:r>
          </a:p>
          <a:p>
            <a:r>
              <a:t>- Output en schema ANALYTICS para Power BI.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DEVOPS DEV vs PRO (removida como slide):</a:t>
            </a:r>
          </a:p>
          <a:p>
            <a:r>
              <a:t>- Separacion via env var DBT_ENVIRONMENTS:</a:t>
            </a:r>
          </a:p>
          <a:p>
            <a:r>
              <a:t>   - DEV: sandbox personal. Database DEV_CITYBIKE_*. Warehouse WH_NYCBIKE_DEV. Schema con prefijo dbt_&lt;usuario&gt;_&lt;custom&gt; (ej. DBT_RLIZARAN_MOBILITY).</a:t>
            </a:r>
          </a:p>
          <a:p>
            <a:r>
              <a:t>   - PRO: produccion. Database PRO_CITYBIKE_*. Warehouse WH_NYCBIKE_PRO (separado para atribucion de costes). Schema directo sin prefijo.</a:t>
            </a:r>
          </a:p>
          <a:p>
            <a:r>
              <a:t>- Mismo codigo dbt, distinta env var. Cada dev tiene su sandbox sin pisar a los demas.</a:t>
            </a:r>
          </a:p>
          <a:p>
            <a:r>
              <a:t>- Jobs PRO recomendados: build mensual dia 28 tras bronze, source freshness diario, full refresh trimestral para capturar correcciones NOAA antiguas.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64BFF9-FF6F-BA4F-EA63-2B23579A5B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5A5AA7-F874-CFC1-EDB6-ED6B31076A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808517-EEE5-715F-66A4-0A6AF3F3DA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1A1952-99A3-0CF9-35B8-DD4B7980535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841841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D61B12-11A2-7AD3-6079-0CEEEDAE11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4E248E-4F0B-4308-E3C1-F52E684E3F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C8D96B-829D-E336-C4D8-233ABFE3B8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EC85A4-258E-AEC5-5B92-2E264820043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695112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48640" cy="7315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s-ES" noProof="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ES" sz="1100" b="1" kern="0" spc="400" noProof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FINAL · DATA ENGINEERING · CIVICA</a:t>
            </a:r>
            <a:endParaRPr lang="es-ES" sz="1100" noProof="0" dirty="0"/>
          </a:p>
        </p:txBody>
      </p:sp>
      <p:sp>
        <p:nvSpPr>
          <p:cNvPr id="4" name="Text 2"/>
          <p:cNvSpPr/>
          <p:nvPr/>
        </p:nvSpPr>
        <p:spPr>
          <a:xfrm>
            <a:off x="0" y="1182311"/>
            <a:ext cx="6035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800" b="1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CityBike</a:t>
            </a:r>
            <a:r>
              <a:rPr lang="en-US" sz="38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NY + Jersey City  </a:t>
            </a:r>
          </a:p>
          <a:p>
            <a:pPr marL="0" indent="0" algn="ctr">
              <a:buNone/>
            </a:pPr>
            <a:r>
              <a:rPr lang="en-US" sz="38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 </a:t>
            </a:r>
          </a:p>
          <a:p>
            <a:pPr marL="0" indent="0" algn="ctr">
              <a:buNone/>
            </a:pPr>
            <a:r>
              <a:rPr lang="en-US" sz="38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NOAA GHCN-Daily </a:t>
            </a:r>
            <a:endParaRPr lang="es-ES" sz="3800" noProof="0" dirty="0"/>
          </a:p>
        </p:txBody>
      </p:sp>
      <p:sp>
        <p:nvSpPr>
          <p:cNvPr id="5" name="Text 3"/>
          <p:cNvSpPr/>
          <p:nvPr/>
        </p:nvSpPr>
        <p:spPr>
          <a:xfrm>
            <a:off x="879438" y="3400137"/>
            <a:ext cx="4114800" cy="7848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sz="2000" noProof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</a:t>
            </a:r>
            <a:r>
              <a:rPr lang="es-ES" sz="2000" noProof="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Medallion</a:t>
            </a:r>
            <a:endParaRPr lang="es-ES" sz="2000" noProof="0" dirty="0">
              <a:solidFill>
                <a:srgbClr val="CADCFC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ctr">
              <a:buNone/>
            </a:pPr>
            <a:r>
              <a:rPr lang="es-ES" sz="2000" noProof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</a:t>
            </a:r>
            <a:r>
              <a:rPr lang="es-ES" sz="2000" noProof="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</a:t>
            </a:r>
            <a:endParaRPr lang="es-ES" sz="2000" noProof="0" dirty="0">
              <a:solidFill>
                <a:srgbClr val="CADCFC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s-ES" sz="1800" noProof="0" dirty="0"/>
          </a:p>
        </p:txBody>
      </p:sp>
      <p:sp>
        <p:nvSpPr>
          <p:cNvPr id="6" name="Text 4"/>
          <p:cNvSpPr/>
          <p:nvPr/>
        </p:nvSpPr>
        <p:spPr>
          <a:xfrm>
            <a:off x="457200" y="450342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300" i="1" noProof="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dbt</a:t>
            </a:r>
            <a:r>
              <a:rPr lang="es-ES" sz="1300" i="1" noProof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</a:t>
            </a:r>
            <a:r>
              <a:rPr lang="es-ES" sz="1300" i="1" noProof="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</a:t>
            </a:r>
            <a:r>
              <a:rPr lang="es-ES" sz="1300" i="1" noProof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SCD2 + </a:t>
            </a:r>
            <a:r>
              <a:rPr lang="es-ES" sz="1300" i="1" noProof="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Cortex</a:t>
            </a:r>
            <a:r>
              <a:rPr lang="es-ES" sz="1300" i="1" noProof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ML.FORECAST  →  Power BI</a:t>
            </a:r>
            <a:endParaRPr lang="es-ES" sz="1300" noProof="0" dirty="0"/>
          </a:p>
        </p:txBody>
      </p:sp>
      <p:sp>
        <p:nvSpPr>
          <p:cNvPr id="7" name="Text 5"/>
          <p:cNvSpPr/>
          <p:nvPr/>
        </p:nvSpPr>
        <p:spPr>
          <a:xfrm>
            <a:off x="6675120" y="3200400"/>
            <a:ext cx="152043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4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Rodrigo </a:t>
            </a:r>
            <a:r>
              <a:rPr lang="es-ES" sz="1400" b="1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Lizaran</a:t>
            </a:r>
            <a:endParaRPr lang="es-ES" sz="1400" noProof="0" dirty="0"/>
          </a:p>
          <a:p>
            <a:pPr marL="0" indent="0">
              <a:buNone/>
            </a:pPr>
            <a:r>
              <a:rPr lang="es-ES" sz="1200" noProof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 2026</a:t>
            </a:r>
            <a:endParaRPr lang="es-ES" sz="1400" noProof="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AF26296D-23B4-8FF8-44F8-A631B96BD3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640080"/>
            <a:ext cx="1886198" cy="236462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100" b="1" kern="0" spc="400" noProof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CONTEXTO</a:t>
            </a:r>
            <a:endParaRPr lang="es-ES" sz="1100" noProof="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2800" b="1" noProof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</a:t>
            </a:r>
            <a:endParaRPr lang="es-ES" sz="2800" noProof="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406908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 noProof="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73152" cy="329184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ES" noProof="0" dirty="0"/>
          </a:p>
        </p:txBody>
      </p:sp>
      <p:sp>
        <p:nvSpPr>
          <p:cNvPr id="6" name="Text 4"/>
          <p:cNvSpPr/>
          <p:nvPr/>
        </p:nvSpPr>
        <p:spPr>
          <a:xfrm>
            <a:off x="777240" y="1463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800" b="1" noProof="0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</a:t>
            </a:r>
            <a:r>
              <a:rPr lang="es-ES" sz="1800" b="1" noProof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disponibles</a:t>
            </a:r>
            <a:endParaRPr lang="es-ES" sz="1800" noProof="0" dirty="0"/>
          </a:p>
        </p:txBody>
      </p:sp>
      <p:sp>
        <p:nvSpPr>
          <p:cNvPr id="7" name="Text 5"/>
          <p:cNvSpPr/>
          <p:nvPr/>
        </p:nvSpPr>
        <p:spPr>
          <a:xfrm>
            <a:off x="777240" y="1920240"/>
            <a:ext cx="3657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" sz="1300" b="1" noProof="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 </a:t>
            </a:r>
            <a:r>
              <a:rPr lang="es-ES" sz="1300" b="1" noProof="0" dirty="0" err="1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Bike</a:t>
            </a:r>
            <a:r>
              <a:rPr lang="es-ES" sz="1300" b="1" noProof="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(NY + Jersey City)</a:t>
            </a:r>
            <a:endParaRPr lang="es-ES" sz="1300" noProof="0" dirty="0"/>
          </a:p>
          <a:p>
            <a:pPr marL="0" indent="0">
              <a:spcAft>
                <a:spcPts val="800"/>
              </a:spcAft>
              <a:buNone/>
            </a:pPr>
            <a:r>
              <a:rPr lang="es-ES" sz="11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Viajes desde 2024 ~100M filas. Bronze trae basura: </a:t>
            </a:r>
            <a:r>
              <a:rPr lang="es-ES" sz="1100" noProof="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ride_ids</a:t>
            </a:r>
            <a:r>
              <a:rPr lang="es-ES" sz="11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duplicados, </a:t>
            </a:r>
            <a:r>
              <a:rPr lang="es-ES" sz="1100" noProof="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coords</a:t>
            </a:r>
            <a:r>
              <a:rPr lang="es-ES" sz="11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corruptas, </a:t>
            </a:r>
            <a:r>
              <a:rPr lang="es-ES" sz="1100" noProof="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stations</a:t>
            </a:r>
            <a:r>
              <a:rPr lang="es-ES" sz="11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demo en LA.</a:t>
            </a:r>
            <a:endParaRPr lang="es-ES" sz="1300" noProof="0" dirty="0"/>
          </a:p>
          <a:p>
            <a:pPr marL="0" indent="0">
              <a:buNone/>
            </a:pPr>
            <a:r>
              <a:rPr lang="es-ES" sz="1300" b="1" noProof="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NOAA GHCN-Daily</a:t>
            </a:r>
            <a:endParaRPr lang="es-ES" sz="1300" noProof="0" dirty="0"/>
          </a:p>
          <a:p>
            <a:r>
              <a:rPr lang="es-ES" sz="11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Observaciones </a:t>
            </a:r>
            <a:r>
              <a:rPr lang="es-ES" sz="1100" noProof="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meteo</a:t>
            </a:r>
            <a:r>
              <a:rPr lang="es-ES" sz="11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todas las </a:t>
            </a:r>
            <a:r>
              <a:rPr lang="es-ES" sz="1100" noProof="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stations</a:t>
            </a:r>
            <a:r>
              <a:rPr lang="es-ES" sz="11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del mundo. Filtrar a US. 8 elementos: TMAX, TMIN, PRCP, SNOW, SNWD, AWND, WSF2, WSF5. NOAA reescribe año cuando publica correcciones.</a:t>
            </a:r>
            <a:endParaRPr lang="es-ES" sz="1300" noProof="0" dirty="0"/>
          </a:p>
        </p:txBody>
      </p:sp>
      <p:sp>
        <p:nvSpPr>
          <p:cNvPr id="8" name="Shape 6"/>
          <p:cNvSpPr/>
          <p:nvPr/>
        </p:nvSpPr>
        <p:spPr>
          <a:xfrm>
            <a:off x="4617720" y="1280160"/>
            <a:ext cx="406908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 noProof="0" dirty="0"/>
          </a:p>
        </p:txBody>
      </p:sp>
      <p:sp>
        <p:nvSpPr>
          <p:cNvPr id="9" name="Shape 7"/>
          <p:cNvSpPr/>
          <p:nvPr/>
        </p:nvSpPr>
        <p:spPr>
          <a:xfrm>
            <a:off x="4617720" y="1280160"/>
            <a:ext cx="73152" cy="329184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s-ES" noProof="0" dirty="0"/>
          </a:p>
        </p:txBody>
      </p:sp>
      <p:sp>
        <p:nvSpPr>
          <p:cNvPr id="10" name="Text 8"/>
          <p:cNvSpPr/>
          <p:nvPr/>
        </p:nvSpPr>
        <p:spPr>
          <a:xfrm>
            <a:off x="4937760" y="1463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800" b="1" noProof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Preguntas a responder</a:t>
            </a:r>
            <a:endParaRPr lang="es-ES" sz="1800" noProof="0" dirty="0"/>
          </a:p>
        </p:txBody>
      </p:sp>
      <p:sp>
        <p:nvSpPr>
          <p:cNvPr id="11" name="Text 9"/>
          <p:cNvSpPr/>
          <p:nvPr/>
        </p:nvSpPr>
        <p:spPr>
          <a:xfrm>
            <a:off x="4937760" y="1920240"/>
            <a:ext cx="3657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s-ES" sz="1200" b="1" noProof="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se usa mas? </a:t>
            </a:r>
            <a:r>
              <a:rPr lang="es-ES" sz="12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mes, día de semana, estación del año.</a:t>
            </a:r>
            <a:endParaRPr lang="es-ES" sz="1200" noProof="0" dirty="0"/>
          </a:p>
          <a:p>
            <a:pPr marL="0" indent="0">
              <a:spcAft>
                <a:spcPts val="600"/>
              </a:spcAft>
              <a:buNone/>
            </a:pPr>
            <a:r>
              <a:rPr lang="es-ES" sz="1200" b="1" noProof="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tipo de bici y usuario domina? </a:t>
            </a:r>
            <a:r>
              <a:rPr lang="es-ES" sz="1200" noProof="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</a:t>
            </a:r>
            <a:r>
              <a:rPr lang="es-ES" sz="12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vs </a:t>
            </a:r>
            <a:r>
              <a:rPr lang="es-ES" sz="1200" noProof="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</a:t>
            </a:r>
            <a:r>
              <a:rPr lang="es-ES" sz="12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s-ES" sz="1200" noProof="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</a:t>
            </a:r>
            <a:r>
              <a:rPr lang="es-ES" sz="12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vs casual.</a:t>
            </a:r>
            <a:endParaRPr lang="es-ES" sz="1200" noProof="0" dirty="0"/>
          </a:p>
          <a:p>
            <a:pPr marL="0" indent="0">
              <a:spcAft>
                <a:spcPts val="600"/>
              </a:spcAft>
              <a:buNone/>
            </a:pPr>
            <a:r>
              <a:rPr lang="es-ES" sz="1200" b="1" noProof="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Afecta el clima? </a:t>
            </a:r>
            <a:r>
              <a:rPr lang="es-ES" sz="12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temperatura, precipitación, nieve.</a:t>
            </a:r>
            <a:endParaRPr lang="es-ES" sz="1200" noProof="0" dirty="0"/>
          </a:p>
          <a:p>
            <a:pPr>
              <a:spcAft>
                <a:spcPts val="600"/>
              </a:spcAft>
            </a:pPr>
            <a:r>
              <a:rPr lang="es-ES" sz="1200" b="1" noProof="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Cuantas correcciones publica NOAA? </a:t>
            </a:r>
            <a:r>
              <a:rPr lang="es-ES" sz="12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histórico SCD2 por año.</a:t>
            </a:r>
            <a:endParaRPr lang="es-ES" sz="1200" noProof="0" dirty="0"/>
          </a:p>
          <a:p>
            <a:pPr marL="0" indent="0">
              <a:spcAft>
                <a:spcPts val="600"/>
              </a:spcAft>
              <a:buNone/>
            </a:pPr>
            <a:r>
              <a:rPr lang="es-ES" sz="1200" b="1" noProof="0" dirty="0" err="1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</a:t>
            </a:r>
            <a:r>
              <a:rPr lang="es-ES" sz="1200" b="1" noProof="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30 </a:t>
            </a:r>
            <a:r>
              <a:rPr lang="es-ES" sz="1200" b="1" noProof="0" dirty="0" err="1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dias</a:t>
            </a:r>
            <a:r>
              <a:rPr lang="es-ES" sz="1200" b="1" noProof="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s-ES" sz="12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</a:t>
            </a:r>
            <a:r>
              <a:rPr lang="es-ES" sz="1200" noProof="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Cortex</a:t>
            </a:r>
            <a:r>
              <a:rPr lang="es-ES" sz="12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ML sobre series temporales.</a:t>
            </a:r>
            <a:endParaRPr lang="es-ES" sz="1200" noProof="0" dirty="0"/>
          </a:p>
        </p:txBody>
      </p:sp>
      <p:sp>
        <p:nvSpPr>
          <p:cNvPr id="12" name="Text 10"/>
          <p:cNvSpPr/>
          <p:nvPr/>
        </p:nvSpPr>
        <p:spPr>
          <a:xfrm>
            <a:off x="8229600" y="48006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ES" sz="9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11</a:t>
            </a:r>
            <a:endParaRPr lang="es-ES" sz="900" noProof="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100" b="1" kern="0" spc="400" noProof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BRONZE · SILVER · GOLD</a:t>
            </a:r>
            <a:endParaRPr lang="es-ES" sz="1100" noProof="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2800" b="1" noProof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</a:t>
            </a:r>
            <a:r>
              <a:rPr lang="es-ES" sz="2800" b="1" noProof="0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medallion</a:t>
            </a:r>
            <a:endParaRPr lang="es-ES" sz="2800" noProof="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2606040" cy="548640"/>
          </a:xfrm>
          <a:prstGeom prst="rect">
            <a:avLst/>
          </a:prstGeom>
          <a:solidFill>
            <a:srgbClr val="B45309"/>
          </a:solidFill>
          <a:ln/>
        </p:spPr>
        <p:txBody>
          <a:bodyPr/>
          <a:lstStyle/>
          <a:p>
            <a:endParaRPr lang="es-ES" noProof="0" dirty="0"/>
          </a:p>
        </p:txBody>
      </p:sp>
      <p:sp>
        <p:nvSpPr>
          <p:cNvPr id="5" name="Text 3"/>
          <p:cNvSpPr/>
          <p:nvPr/>
        </p:nvSpPr>
        <p:spPr>
          <a:xfrm>
            <a:off x="502920" y="141732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sz="1800" b="1" kern="0" spc="3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</a:t>
            </a:r>
            <a:endParaRPr lang="es-ES" sz="1800" noProof="0" dirty="0"/>
          </a:p>
        </p:txBody>
      </p:sp>
      <p:sp>
        <p:nvSpPr>
          <p:cNvPr id="6" name="Shape 4"/>
          <p:cNvSpPr/>
          <p:nvPr/>
        </p:nvSpPr>
        <p:spPr>
          <a:xfrm>
            <a:off x="502920" y="1965960"/>
            <a:ext cx="260604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 noProof="0" dirty="0"/>
          </a:p>
        </p:txBody>
      </p:sp>
      <p:sp>
        <p:nvSpPr>
          <p:cNvPr id="7" name="Text 5"/>
          <p:cNvSpPr/>
          <p:nvPr/>
        </p:nvSpPr>
        <p:spPr>
          <a:xfrm>
            <a:off x="640080" y="20574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000" i="1" noProof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{ENV}_CITYBIKE_BRONZE</a:t>
            </a:r>
            <a:endParaRPr lang="es-ES" sz="1000" noProof="0" dirty="0"/>
          </a:p>
        </p:txBody>
      </p:sp>
      <p:sp>
        <p:nvSpPr>
          <p:cNvPr id="8" name="Text 6"/>
          <p:cNvSpPr/>
          <p:nvPr/>
        </p:nvSpPr>
        <p:spPr>
          <a:xfrm>
            <a:off x="685800" y="2331720"/>
            <a:ext cx="2240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s-ES" sz="1100" noProof="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CITYBIKE_TRIPS_NY (raw)</a:t>
            </a:r>
            <a:endParaRPr lang="es-ES" sz="1100" noProof="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s-ES" sz="1100" noProof="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CITYBIKE_TRIPS_JC (raw)</a:t>
            </a:r>
            <a:endParaRPr lang="es-ES" sz="1100" noProof="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s-ES" sz="1100" noProof="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NOAA_RAW_YEAR (raw)</a:t>
            </a:r>
            <a:endParaRPr lang="es-ES" sz="1100" noProof="0" dirty="0"/>
          </a:p>
        </p:txBody>
      </p:sp>
      <p:sp>
        <p:nvSpPr>
          <p:cNvPr id="9" name="Text 7"/>
          <p:cNvSpPr/>
          <p:nvPr/>
        </p:nvSpPr>
        <p:spPr>
          <a:xfrm>
            <a:off x="640080" y="402336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950" i="1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Tablas VARCHAR. COPY INTO desde S3 + </a:t>
            </a:r>
            <a:r>
              <a:rPr lang="es-ES" sz="950" i="1" noProof="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stages</a:t>
            </a:r>
            <a:r>
              <a:rPr lang="es-ES" sz="950" i="1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internos. Streams + </a:t>
            </a:r>
            <a:r>
              <a:rPr lang="es-ES" sz="950" i="1" noProof="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</a:t>
            </a:r>
            <a:r>
              <a:rPr lang="es-ES" sz="950" i="1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s-ES" sz="950" i="1" noProof="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</a:t>
            </a:r>
            <a:r>
              <a:rPr lang="es-ES" sz="950" i="1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28 cron NY.</a:t>
            </a:r>
            <a:endParaRPr lang="es-ES" sz="950" noProof="0" dirty="0"/>
          </a:p>
        </p:txBody>
      </p:sp>
      <p:sp>
        <p:nvSpPr>
          <p:cNvPr id="10" name="Shape 8"/>
          <p:cNvSpPr/>
          <p:nvPr/>
        </p:nvSpPr>
        <p:spPr>
          <a:xfrm>
            <a:off x="3337560" y="1417320"/>
            <a:ext cx="2606040" cy="548640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s-ES" noProof="0" dirty="0"/>
          </a:p>
        </p:txBody>
      </p:sp>
      <p:sp>
        <p:nvSpPr>
          <p:cNvPr id="11" name="Text 9"/>
          <p:cNvSpPr/>
          <p:nvPr/>
        </p:nvSpPr>
        <p:spPr>
          <a:xfrm>
            <a:off x="3337560" y="141732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sz="1800" b="1" kern="0" spc="3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</a:t>
            </a:r>
            <a:endParaRPr lang="es-ES" sz="1800" noProof="0" dirty="0"/>
          </a:p>
        </p:txBody>
      </p:sp>
      <p:sp>
        <p:nvSpPr>
          <p:cNvPr id="12" name="Shape 10"/>
          <p:cNvSpPr/>
          <p:nvPr/>
        </p:nvSpPr>
        <p:spPr>
          <a:xfrm>
            <a:off x="3337560" y="1965960"/>
            <a:ext cx="260604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 noProof="0" dirty="0"/>
          </a:p>
        </p:txBody>
      </p:sp>
      <p:sp>
        <p:nvSpPr>
          <p:cNvPr id="13" name="Text 11"/>
          <p:cNvSpPr/>
          <p:nvPr/>
        </p:nvSpPr>
        <p:spPr>
          <a:xfrm>
            <a:off x="3474720" y="20574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000" i="1" noProof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{ENV}_CITYBIKE_SILVER</a:t>
            </a:r>
            <a:endParaRPr lang="es-ES" sz="1000" noProof="0" dirty="0"/>
          </a:p>
        </p:txBody>
      </p:sp>
      <p:sp>
        <p:nvSpPr>
          <p:cNvPr id="14" name="Text 12"/>
          <p:cNvSpPr/>
          <p:nvPr/>
        </p:nvSpPr>
        <p:spPr>
          <a:xfrm>
            <a:off x="3520440" y="2331720"/>
            <a:ext cx="2240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s-ES" sz="1100" noProof="0" dirty="0" err="1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stg_CityBike</a:t>
            </a:r>
            <a:r>
              <a:rPr lang="es-ES" sz="1100" noProof="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s-ES" sz="1100" noProof="0" dirty="0" err="1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stg_NOAA</a:t>
            </a:r>
            <a:endParaRPr lang="es-ES" sz="1100" noProof="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s-ES" sz="1100" noProof="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snp_NOAA__</a:t>
            </a:r>
            <a:r>
              <a:rPr lang="es-ES" sz="1100" noProof="0" dirty="0" err="1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noaa_raw_year</a:t>
            </a:r>
            <a:r>
              <a:rPr lang="es-ES" sz="1100" noProof="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(SCD2)</a:t>
            </a:r>
            <a:endParaRPr lang="es-ES" sz="1100" noProof="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s-ES" sz="1100" noProof="0" dirty="0" err="1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slv_trip</a:t>
            </a:r>
            <a:r>
              <a:rPr lang="es-ES" sz="1100" noProof="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s-ES" sz="1100" noProof="0" dirty="0" err="1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slv_station</a:t>
            </a:r>
            <a:r>
              <a:rPr lang="es-ES" sz="1100" noProof="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s-ES" sz="1100" noProof="0" dirty="0" err="1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slv_weather</a:t>
            </a:r>
            <a:r>
              <a:rPr lang="es-ES" sz="1100" noProof="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_*</a:t>
            </a:r>
            <a:endParaRPr lang="es-ES" sz="1100" noProof="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s-ES" sz="1100" noProof="0" dirty="0" err="1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slv_city</a:t>
            </a:r>
            <a:r>
              <a:rPr lang="es-ES" sz="1100" noProof="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s-ES" sz="1100" noProof="0" dirty="0" err="1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slv_quality_flag</a:t>
            </a:r>
            <a:r>
              <a:rPr lang="es-ES" sz="1100" noProof="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es-ES" sz="1100" noProof="0" dirty="0" err="1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lookups</a:t>
            </a:r>
            <a:r>
              <a:rPr lang="es-ES" sz="1100" noProof="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s-ES" sz="1100" noProof="0" dirty="0"/>
          </a:p>
        </p:txBody>
      </p:sp>
      <p:sp>
        <p:nvSpPr>
          <p:cNvPr id="15" name="Text 13"/>
          <p:cNvSpPr/>
          <p:nvPr/>
        </p:nvSpPr>
        <p:spPr>
          <a:xfrm>
            <a:off x="3474720" y="402336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950" i="1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Cast + </a:t>
            </a:r>
            <a:r>
              <a:rPr lang="es-ES" sz="950" i="1" noProof="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</a:t>
            </a:r>
            <a:r>
              <a:rPr lang="es-ES" sz="950" i="1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</a:t>
            </a:r>
            <a:r>
              <a:rPr lang="es-ES" sz="950" i="1" noProof="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dedupe</a:t>
            </a:r>
            <a:r>
              <a:rPr lang="es-ES" sz="950" i="1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 </a:t>
            </a:r>
            <a:r>
              <a:rPr lang="es-ES" sz="950" i="1" noProof="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stg</a:t>
            </a:r>
            <a:r>
              <a:rPr lang="es-ES" sz="950" i="1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r>
              <a:rPr lang="es-ES" sz="950" i="1" noProof="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Enrichment</a:t>
            </a:r>
            <a:r>
              <a:rPr lang="es-ES" sz="950" i="1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</a:t>
            </a:r>
            <a:r>
              <a:rPr lang="es-ES" sz="950" i="1" noProof="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FKs</a:t>
            </a:r>
            <a:r>
              <a:rPr lang="es-ES" sz="950" i="1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s-ES" sz="950" i="1" noProof="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surrogate</a:t>
            </a:r>
            <a:r>
              <a:rPr lang="es-ES" sz="950" i="1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 </a:t>
            </a:r>
            <a:r>
              <a:rPr lang="es-ES" sz="950" i="1" noProof="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slv</a:t>
            </a:r>
            <a:r>
              <a:rPr lang="es-ES" sz="950" i="1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s-ES" sz="950" noProof="0" dirty="0"/>
          </a:p>
        </p:txBody>
      </p:sp>
      <p:sp>
        <p:nvSpPr>
          <p:cNvPr id="16" name="Shape 14"/>
          <p:cNvSpPr/>
          <p:nvPr/>
        </p:nvSpPr>
        <p:spPr>
          <a:xfrm>
            <a:off x="6172200" y="1417320"/>
            <a:ext cx="2606040" cy="54864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s-ES" noProof="0" dirty="0"/>
          </a:p>
        </p:txBody>
      </p:sp>
      <p:sp>
        <p:nvSpPr>
          <p:cNvPr id="17" name="Text 15"/>
          <p:cNvSpPr/>
          <p:nvPr/>
        </p:nvSpPr>
        <p:spPr>
          <a:xfrm>
            <a:off x="6172200" y="141732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sz="1800" b="1" kern="0" spc="3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</a:t>
            </a:r>
            <a:endParaRPr lang="es-ES" sz="1800" noProof="0" dirty="0"/>
          </a:p>
        </p:txBody>
      </p:sp>
      <p:sp>
        <p:nvSpPr>
          <p:cNvPr id="18" name="Shape 16"/>
          <p:cNvSpPr/>
          <p:nvPr/>
        </p:nvSpPr>
        <p:spPr>
          <a:xfrm>
            <a:off x="6172200" y="1965960"/>
            <a:ext cx="260604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 noProof="0" dirty="0"/>
          </a:p>
        </p:txBody>
      </p:sp>
      <p:sp>
        <p:nvSpPr>
          <p:cNvPr id="19" name="Text 17"/>
          <p:cNvSpPr/>
          <p:nvPr/>
        </p:nvSpPr>
        <p:spPr>
          <a:xfrm>
            <a:off x="6309360" y="20574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000" i="1" noProof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{ENV}_CITYBIKE_GOLD</a:t>
            </a:r>
            <a:endParaRPr lang="es-ES" sz="1000" noProof="0" dirty="0"/>
          </a:p>
        </p:txBody>
      </p:sp>
      <p:sp>
        <p:nvSpPr>
          <p:cNvPr id="20" name="Text 18"/>
          <p:cNvSpPr/>
          <p:nvPr/>
        </p:nvSpPr>
        <p:spPr>
          <a:xfrm>
            <a:off x="6355080" y="2331720"/>
            <a:ext cx="2240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s-ES" sz="1100" noProof="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CORE: </a:t>
            </a:r>
            <a:r>
              <a:rPr lang="es-ES" sz="1100" noProof="0" dirty="0" err="1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dim_fecha</a:t>
            </a:r>
            <a:r>
              <a:rPr lang="es-ES" sz="1100" noProof="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s-ES" sz="1100" noProof="0" dirty="0" err="1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dim_city</a:t>
            </a:r>
            <a:endParaRPr lang="es-ES" sz="1100" noProof="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s-ES" sz="1100" noProof="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MOBILITY: </a:t>
            </a:r>
            <a:r>
              <a:rPr lang="es-ES" sz="1100" noProof="0" dirty="0" err="1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fct_trips</a:t>
            </a:r>
            <a:r>
              <a:rPr lang="es-ES" sz="1100" noProof="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*, </a:t>
            </a:r>
            <a:r>
              <a:rPr lang="es-ES" sz="1100" noProof="0" dirty="0" err="1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</a:t>
            </a:r>
            <a:r>
              <a:rPr lang="es-ES" sz="1100" noProof="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_*</a:t>
            </a:r>
            <a:endParaRPr lang="es-ES" sz="1100" noProof="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s-ES" sz="1100" noProof="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CLIMA: </a:t>
            </a:r>
            <a:r>
              <a:rPr lang="es-ES" sz="1100" noProof="0" dirty="0" err="1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fct_weather</a:t>
            </a:r>
            <a:r>
              <a:rPr lang="es-ES" sz="1100" noProof="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_*, </a:t>
            </a:r>
            <a:r>
              <a:rPr lang="es-ES" sz="1100" noProof="0" dirty="0" err="1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</a:t>
            </a:r>
            <a:r>
              <a:rPr lang="es-ES" sz="1100" noProof="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_*</a:t>
            </a:r>
            <a:endParaRPr lang="es-ES" sz="1100" noProof="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s-ES" sz="1100" noProof="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ANALYTICS: </a:t>
            </a:r>
            <a:r>
              <a:rPr lang="es-ES" sz="1100" noProof="0" dirty="0" err="1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fct_trips_weather</a:t>
            </a:r>
            <a:endParaRPr lang="es-ES" sz="1100" noProof="0" dirty="0">
              <a:solidFill>
                <a:srgbClr val="1A202C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s-ES" sz="1100" noProof="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IA:  IA </a:t>
            </a:r>
            <a:r>
              <a:rPr lang="es-ES" sz="1100" noProof="0" dirty="0" err="1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</a:t>
            </a:r>
            <a:endParaRPr lang="es-ES" sz="1100" noProof="0" dirty="0"/>
          </a:p>
        </p:txBody>
      </p:sp>
      <p:sp>
        <p:nvSpPr>
          <p:cNvPr id="21" name="Text 19"/>
          <p:cNvSpPr/>
          <p:nvPr/>
        </p:nvSpPr>
        <p:spPr>
          <a:xfrm>
            <a:off x="6309360" y="402336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950" i="1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</a:t>
            </a:r>
            <a:r>
              <a:rPr lang="es-ES" sz="950" i="1" noProof="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</a:t>
            </a:r>
            <a:r>
              <a:rPr lang="es-ES" sz="950" i="1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como table. </a:t>
            </a:r>
            <a:r>
              <a:rPr lang="es-ES" sz="950" i="1" noProof="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Contracts</a:t>
            </a:r>
            <a:r>
              <a:rPr lang="es-ES" sz="950" i="1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enforcados. Power BI consume </a:t>
            </a:r>
            <a:r>
              <a:rPr lang="es-ES" sz="950" i="1" noProof="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aqui</a:t>
            </a:r>
            <a:r>
              <a:rPr lang="es-ES" sz="950" i="1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s-ES" sz="950" noProof="0" dirty="0"/>
          </a:p>
        </p:txBody>
      </p:sp>
      <p:sp>
        <p:nvSpPr>
          <p:cNvPr id="22" name="Text 20"/>
          <p:cNvSpPr/>
          <p:nvPr/>
        </p:nvSpPr>
        <p:spPr>
          <a:xfrm>
            <a:off x="3063240" y="269748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sz="2200" b="1" noProof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s-ES" sz="2200" noProof="0" dirty="0"/>
          </a:p>
        </p:txBody>
      </p:sp>
      <p:sp>
        <p:nvSpPr>
          <p:cNvPr id="23" name="Text 21"/>
          <p:cNvSpPr/>
          <p:nvPr/>
        </p:nvSpPr>
        <p:spPr>
          <a:xfrm>
            <a:off x="5897880" y="269748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sz="2200" b="1" noProof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s-ES" sz="2200" noProof="0" dirty="0"/>
          </a:p>
        </p:txBody>
      </p:sp>
      <p:sp>
        <p:nvSpPr>
          <p:cNvPr id="24" name="Text 22"/>
          <p:cNvSpPr/>
          <p:nvPr/>
        </p:nvSpPr>
        <p:spPr>
          <a:xfrm>
            <a:off x="8229600" y="48006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ES" sz="9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11</a:t>
            </a:r>
            <a:endParaRPr lang="es-ES" sz="900" noProof="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100" b="1" kern="0" spc="400" noProof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HISTORICO DE CORRECCIONES</a:t>
            </a:r>
            <a:endParaRPr lang="es-ES" sz="1100" noProof="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2800" b="1" noProof="0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</a:t>
            </a:r>
            <a:r>
              <a:rPr lang="es-ES" sz="2800" b="1" noProof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SCD2 NOAA</a:t>
            </a:r>
            <a:endParaRPr lang="es-ES" sz="2800" noProof="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42062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" sz="1300" b="1" noProof="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NOAA reescribe años completos cuando publica correcciones</a:t>
            </a:r>
            <a:endParaRPr lang="es-ES" sz="1300" noProof="0" dirty="0"/>
          </a:p>
          <a:p>
            <a:pPr marL="0" indent="0">
              <a:spcAft>
                <a:spcPts val="1200"/>
              </a:spcAft>
              <a:buNone/>
            </a:pPr>
            <a:r>
              <a:rPr lang="es-ES" sz="1100" noProof="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q_flag</a:t>
            </a:r>
            <a:r>
              <a:rPr lang="es-ES" sz="11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 </a:t>
            </a:r>
            <a:r>
              <a:rPr lang="es-ES" sz="1100" noProof="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data_value</a:t>
            </a:r>
            <a:r>
              <a:rPr lang="es-ES" sz="11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cambian sin previo aviso.</a:t>
            </a:r>
            <a:endParaRPr lang="es-ES" sz="1300" noProof="0" dirty="0"/>
          </a:p>
          <a:p>
            <a:pPr marL="0" indent="0">
              <a:buNone/>
            </a:pPr>
            <a:r>
              <a:rPr lang="es-ES" sz="1300" b="1" noProof="0" dirty="0" err="1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</a:t>
            </a:r>
            <a:r>
              <a:rPr lang="es-ES" sz="1300" b="1" noProof="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s-ES" sz="1300" b="1" noProof="0" dirty="0" err="1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</a:t>
            </a:r>
            <a:endParaRPr lang="es-ES" sz="1300" noProof="0" dirty="0"/>
          </a:p>
          <a:p>
            <a:pPr marL="0" indent="0">
              <a:spcAft>
                <a:spcPts val="1200"/>
              </a:spcAft>
              <a:buNone/>
            </a:pPr>
            <a:r>
              <a:rPr lang="es-ES" sz="1100" noProof="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check_cols</a:t>
            </a:r>
            <a:r>
              <a:rPr lang="es-ES" sz="11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[</a:t>
            </a:r>
            <a:r>
              <a:rPr lang="es-ES" sz="1100" noProof="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data_value</a:t>
            </a:r>
            <a:r>
              <a:rPr lang="es-ES" sz="11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s-ES" sz="1100" noProof="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q_flag_category</a:t>
            </a:r>
            <a:r>
              <a:rPr lang="es-ES" sz="11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]. Solo estos campos disparan nueva versión.</a:t>
            </a:r>
            <a:endParaRPr lang="es-ES" sz="1300" noProof="0" dirty="0"/>
          </a:p>
          <a:p>
            <a:pPr marL="0" indent="0">
              <a:buNone/>
            </a:pPr>
            <a:r>
              <a:rPr lang="es-ES" sz="1300" b="1" noProof="0" dirty="0" err="1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scd_key</a:t>
            </a:r>
            <a:r>
              <a:rPr lang="es-ES" sz="1300" b="1" noProof="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compuesto</a:t>
            </a:r>
            <a:endParaRPr lang="es-ES" sz="1300" noProof="0" dirty="0"/>
          </a:p>
          <a:p>
            <a:pPr marL="0" indent="0">
              <a:spcAft>
                <a:spcPts val="1200"/>
              </a:spcAft>
              <a:buNone/>
            </a:pPr>
            <a:r>
              <a:rPr lang="es-ES" sz="1100" noProof="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station_id</a:t>
            </a:r>
            <a:r>
              <a:rPr lang="es-ES" sz="11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|| </a:t>
            </a:r>
            <a:r>
              <a:rPr lang="es-ES" sz="1100" noProof="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observation_date</a:t>
            </a:r>
            <a:r>
              <a:rPr lang="es-ES" sz="11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|| </a:t>
            </a:r>
            <a:r>
              <a:rPr lang="es-ES" sz="1100" noProof="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</a:t>
            </a:r>
            <a:r>
              <a:rPr lang="es-ES" sz="11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Una </a:t>
            </a:r>
            <a:r>
              <a:rPr lang="es-ES" sz="1100" noProof="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scd_key</a:t>
            </a:r>
            <a:r>
              <a:rPr lang="es-ES" sz="11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puede tener N versiones.</a:t>
            </a:r>
            <a:endParaRPr lang="es-ES" sz="1300" noProof="0" dirty="0"/>
          </a:p>
          <a:p>
            <a:pPr marL="0" indent="0">
              <a:buNone/>
            </a:pPr>
            <a:r>
              <a:rPr lang="es-ES" sz="1300" b="1" noProof="0" dirty="0" err="1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Exposicion</a:t>
            </a:r>
            <a:r>
              <a:rPr lang="es-ES" sz="1300" b="1" noProof="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para BI</a:t>
            </a:r>
            <a:endParaRPr lang="es-ES" sz="1300" noProof="0" dirty="0"/>
          </a:p>
          <a:p>
            <a:pPr marL="0" indent="0">
              <a:buNone/>
            </a:pPr>
            <a:r>
              <a:rPr lang="es-ES" sz="1100" noProof="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fct_noaa_corrections</a:t>
            </a:r>
            <a:r>
              <a:rPr lang="es-ES" sz="11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es-ES" sz="1100" noProof="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</a:t>
            </a:r>
            <a:r>
              <a:rPr lang="es-ES" sz="11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muestra todas las versiones con </a:t>
            </a:r>
            <a:r>
              <a:rPr lang="es-ES" sz="1100" noProof="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</a:t>
            </a:r>
            <a:r>
              <a:rPr lang="es-ES" sz="11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s-ES" sz="1100" noProof="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is_current</a:t>
            </a:r>
            <a:r>
              <a:rPr lang="es-ES" sz="11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</a:t>
            </a:r>
            <a:r>
              <a:rPr lang="es-ES" sz="1100" noProof="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is_superseded</a:t>
            </a:r>
            <a:r>
              <a:rPr lang="es-ES" sz="11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s-ES" sz="1300" noProof="0" dirty="0"/>
          </a:p>
        </p:txBody>
      </p:sp>
      <p:sp>
        <p:nvSpPr>
          <p:cNvPr id="5" name="Shape 3"/>
          <p:cNvSpPr/>
          <p:nvPr/>
        </p:nvSpPr>
        <p:spPr>
          <a:xfrm>
            <a:off x="4846320" y="1417320"/>
            <a:ext cx="384048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 noProof="0" dirty="0"/>
          </a:p>
        </p:txBody>
      </p:sp>
      <p:sp>
        <p:nvSpPr>
          <p:cNvPr id="6" name="Text 4"/>
          <p:cNvSpPr/>
          <p:nvPr/>
        </p:nvSpPr>
        <p:spPr>
          <a:xfrm>
            <a:off x="4983480" y="15087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200" b="1" noProof="0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</a:t>
            </a:r>
            <a:r>
              <a:rPr lang="es-ES" sz="1200" b="1" noProof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SCD2</a:t>
            </a:r>
            <a:endParaRPr lang="es-ES" sz="1200" noProof="0" dirty="0"/>
          </a:p>
        </p:txBody>
      </p:sp>
      <p:sp>
        <p:nvSpPr>
          <p:cNvPr id="7" name="Shape 5"/>
          <p:cNvSpPr/>
          <p:nvPr/>
        </p:nvSpPr>
        <p:spPr>
          <a:xfrm>
            <a:off x="5029200" y="1965960"/>
            <a:ext cx="365760" cy="36576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s-ES" noProof="0" dirty="0"/>
          </a:p>
        </p:txBody>
      </p:sp>
      <p:sp>
        <p:nvSpPr>
          <p:cNvPr id="8" name="Text 6"/>
          <p:cNvSpPr/>
          <p:nvPr/>
        </p:nvSpPr>
        <p:spPr>
          <a:xfrm>
            <a:off x="5029200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sz="14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s-ES" sz="1400" noProof="0" dirty="0"/>
          </a:p>
        </p:txBody>
      </p:sp>
      <p:sp>
        <p:nvSpPr>
          <p:cNvPr id="9" name="Text 7"/>
          <p:cNvSpPr/>
          <p:nvPr/>
        </p:nvSpPr>
        <p:spPr>
          <a:xfrm>
            <a:off x="5532120" y="192024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" sz="1200" b="1" noProof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Primera ingesta</a:t>
            </a:r>
            <a:endParaRPr lang="es-ES" sz="1200" noProof="0" dirty="0"/>
          </a:p>
          <a:p>
            <a:pPr marL="0" indent="0">
              <a:buNone/>
            </a:pPr>
            <a:r>
              <a:rPr lang="es-ES" sz="1000" noProof="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→ </a:t>
            </a:r>
            <a:r>
              <a:rPr lang="es-ES" sz="1000" noProof="0" dirty="0" err="1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dbt_valid_from</a:t>
            </a:r>
            <a:r>
              <a:rPr lang="es-ES" sz="1000" noProof="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</a:t>
            </a:r>
            <a:r>
              <a:rPr lang="es-ES" sz="1000" noProof="0" dirty="0" err="1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r>
              <a:rPr lang="es-ES" sz="1000" noProof="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s-ES" sz="1000" noProof="0" dirty="0" err="1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dbt_valid_to</a:t>
            </a:r>
            <a:r>
              <a:rPr lang="es-ES" sz="1000" noProof="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NULL</a:t>
            </a:r>
            <a:endParaRPr lang="es-ES" sz="1200" noProof="0" dirty="0"/>
          </a:p>
        </p:txBody>
      </p:sp>
      <p:sp>
        <p:nvSpPr>
          <p:cNvPr id="10" name="Shape 8"/>
          <p:cNvSpPr/>
          <p:nvPr/>
        </p:nvSpPr>
        <p:spPr>
          <a:xfrm>
            <a:off x="5029200" y="2880360"/>
            <a:ext cx="365760" cy="36576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s-ES" noProof="0" dirty="0"/>
          </a:p>
        </p:txBody>
      </p:sp>
      <p:sp>
        <p:nvSpPr>
          <p:cNvPr id="11" name="Text 9"/>
          <p:cNvSpPr/>
          <p:nvPr/>
        </p:nvSpPr>
        <p:spPr>
          <a:xfrm>
            <a:off x="5029200" y="2880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sz="14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s-ES" sz="1400" noProof="0" dirty="0"/>
          </a:p>
        </p:txBody>
      </p:sp>
      <p:sp>
        <p:nvSpPr>
          <p:cNvPr id="12" name="Text 10"/>
          <p:cNvSpPr/>
          <p:nvPr/>
        </p:nvSpPr>
        <p:spPr>
          <a:xfrm>
            <a:off x="5532120" y="283464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" sz="1200" b="1" noProof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NOAA publica </a:t>
            </a:r>
            <a:r>
              <a:rPr lang="es-ES" sz="1200" b="1" noProof="0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correccion</a:t>
            </a:r>
            <a:endParaRPr lang="es-ES" sz="1200" noProof="0" dirty="0"/>
          </a:p>
          <a:p>
            <a:pPr marL="0" indent="0">
              <a:buNone/>
            </a:pPr>
            <a:r>
              <a:rPr lang="es-ES" sz="1000" noProof="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fila vieja: </a:t>
            </a:r>
            <a:r>
              <a:rPr lang="es-ES" sz="1000" noProof="0" dirty="0" err="1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dbt_valid_to</a:t>
            </a:r>
            <a:r>
              <a:rPr lang="es-ES" sz="1000" noProof="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</a:t>
            </a:r>
            <a:r>
              <a:rPr lang="es-ES" sz="1000" noProof="0" dirty="0" err="1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s-ES" sz="1200" noProof="0" dirty="0"/>
          </a:p>
          <a:p>
            <a:pPr marL="0" indent="0">
              <a:buNone/>
            </a:pPr>
            <a:r>
              <a:rPr lang="es-ES" sz="1000" noProof="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fila nueva: </a:t>
            </a:r>
            <a:r>
              <a:rPr lang="es-ES" sz="1000" noProof="0" dirty="0" err="1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dbt_valid_from</a:t>
            </a:r>
            <a:r>
              <a:rPr lang="es-ES" sz="1000" noProof="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</a:t>
            </a:r>
            <a:r>
              <a:rPr lang="es-ES" sz="1000" noProof="0" dirty="0" err="1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s-ES" sz="1200" noProof="0" dirty="0"/>
          </a:p>
        </p:txBody>
      </p:sp>
      <p:sp>
        <p:nvSpPr>
          <p:cNvPr id="13" name="Shape 11"/>
          <p:cNvSpPr/>
          <p:nvPr/>
        </p:nvSpPr>
        <p:spPr>
          <a:xfrm>
            <a:off x="5029200" y="3794760"/>
            <a:ext cx="365760" cy="36576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s-ES" noProof="0" dirty="0"/>
          </a:p>
        </p:txBody>
      </p:sp>
      <p:sp>
        <p:nvSpPr>
          <p:cNvPr id="14" name="Text 12"/>
          <p:cNvSpPr/>
          <p:nvPr/>
        </p:nvSpPr>
        <p:spPr>
          <a:xfrm>
            <a:off x="5029200" y="3794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sz="14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s-ES" sz="1400" noProof="0" dirty="0"/>
          </a:p>
        </p:txBody>
      </p:sp>
      <p:sp>
        <p:nvSpPr>
          <p:cNvPr id="15" name="Text 13"/>
          <p:cNvSpPr/>
          <p:nvPr/>
        </p:nvSpPr>
        <p:spPr>
          <a:xfrm>
            <a:off x="5532120" y="374904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" sz="1200" b="1" noProof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</a:t>
            </a:r>
            <a:endParaRPr lang="es-ES" sz="1200" noProof="0" dirty="0"/>
          </a:p>
          <a:p>
            <a:pPr marL="0" indent="0">
              <a:buNone/>
            </a:pPr>
            <a:r>
              <a:rPr lang="es-ES" sz="1000" noProof="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versiones por </a:t>
            </a:r>
            <a:r>
              <a:rPr lang="es-ES" sz="1000" noProof="0" dirty="0" err="1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scd_key</a:t>
            </a:r>
            <a:r>
              <a:rPr lang="es-ES" sz="1000" noProof="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Solo una con </a:t>
            </a:r>
            <a:r>
              <a:rPr lang="es-ES" sz="1000" noProof="0" dirty="0" err="1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dbt_valid_to</a:t>
            </a:r>
            <a:r>
              <a:rPr lang="es-ES" sz="1000" noProof="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NULL.</a:t>
            </a:r>
            <a:endParaRPr lang="es-ES" sz="1200" noProof="0" dirty="0"/>
          </a:p>
          <a:p>
            <a:pPr marL="0" indent="0">
              <a:buNone/>
            </a:pPr>
            <a:r>
              <a:rPr lang="es-ES" sz="1000" noProof="0" dirty="0" err="1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is_current</a:t>
            </a:r>
            <a:r>
              <a:rPr lang="es-ES" sz="1000" noProof="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vs </a:t>
            </a:r>
            <a:r>
              <a:rPr lang="es-ES" sz="1000" noProof="0" dirty="0" err="1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is_superseded</a:t>
            </a:r>
            <a:r>
              <a:rPr lang="es-ES" sz="1000" noProof="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 </a:t>
            </a:r>
            <a:r>
              <a:rPr lang="es-ES" sz="1000" noProof="0" dirty="0" err="1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</a:t>
            </a:r>
            <a:endParaRPr lang="es-ES" sz="1200" noProof="0" dirty="0"/>
          </a:p>
        </p:txBody>
      </p:sp>
      <p:sp>
        <p:nvSpPr>
          <p:cNvPr id="16" name="Text 14"/>
          <p:cNvSpPr/>
          <p:nvPr/>
        </p:nvSpPr>
        <p:spPr>
          <a:xfrm>
            <a:off x="8229600" y="48006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ES" sz="9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11</a:t>
            </a:r>
            <a:endParaRPr lang="es-ES" sz="900" noProof="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100" b="1" kern="0" spc="400" noProof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SEPARACION DE RESPONSABILIDADES</a:t>
            </a:r>
            <a:endParaRPr lang="es-ES" sz="1100" noProof="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2800" b="1" noProof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 · limpieza y enriquecimiento</a:t>
            </a:r>
            <a:endParaRPr lang="es-ES" sz="2800" noProof="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406908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 noProof="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4069080" cy="548640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s-ES" noProof="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4069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sz="1600" b="1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stg</a:t>
            </a:r>
            <a:r>
              <a:rPr lang="es-ES" sz="16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Intermedio</a:t>
            </a:r>
            <a:endParaRPr lang="es-ES" sz="1600" noProof="0" dirty="0"/>
          </a:p>
        </p:txBody>
      </p:sp>
      <p:sp>
        <p:nvSpPr>
          <p:cNvPr id="7" name="Text 5"/>
          <p:cNvSpPr/>
          <p:nvPr/>
        </p:nvSpPr>
        <p:spPr>
          <a:xfrm>
            <a:off x="640080" y="2103120"/>
            <a:ext cx="37033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s-ES" sz="1300" b="1" noProof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</a:t>
            </a:r>
            <a:r>
              <a:rPr lang="es-ES" sz="1300" b="1" noProof="0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cast</a:t>
            </a:r>
            <a:r>
              <a:rPr lang="es-ES" sz="1300" b="1" noProof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</a:t>
            </a:r>
            <a:r>
              <a:rPr lang="es-ES" sz="1300" b="1" noProof="0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</a:t>
            </a:r>
            <a:r>
              <a:rPr lang="es-ES" sz="1300" b="1" noProof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</a:t>
            </a:r>
            <a:r>
              <a:rPr lang="es-ES" sz="1300" b="1" noProof="0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dedupe</a:t>
            </a:r>
            <a:endParaRPr lang="es-ES" sz="1300" noProof="0" dirty="0"/>
          </a:p>
          <a:p>
            <a:pPr marL="0" indent="0">
              <a:spcAft>
                <a:spcPts val="400"/>
              </a:spcAft>
              <a:buNone/>
            </a:pPr>
            <a:r>
              <a:rPr lang="es-ES" sz="11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Cast a tipos correctos (</a:t>
            </a:r>
            <a:r>
              <a:rPr lang="es-ES" sz="1100" noProof="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timestamps</a:t>
            </a:r>
            <a:r>
              <a:rPr lang="es-ES" sz="11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decimal </a:t>
            </a:r>
            <a:r>
              <a:rPr lang="es-ES" sz="1100" noProof="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coords</a:t>
            </a:r>
            <a:r>
              <a:rPr lang="es-ES" sz="11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).</a:t>
            </a:r>
            <a:endParaRPr lang="es-ES" sz="1300" noProof="0" dirty="0"/>
          </a:p>
          <a:p>
            <a:pPr marL="0" indent="0">
              <a:spcAft>
                <a:spcPts val="400"/>
              </a:spcAft>
              <a:buNone/>
            </a:pPr>
            <a:r>
              <a:rPr lang="es-ES" sz="11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Union NY + JC en </a:t>
            </a:r>
            <a:r>
              <a:rPr lang="es-ES" sz="1100" noProof="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stg_CityBike</a:t>
            </a:r>
            <a:r>
              <a:rPr lang="es-ES" sz="11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s-ES" sz="1300" noProof="0" dirty="0"/>
          </a:p>
          <a:p>
            <a:pPr marL="0" indent="0">
              <a:spcAft>
                <a:spcPts val="400"/>
              </a:spcAft>
              <a:buNone/>
            </a:pPr>
            <a:r>
              <a:rPr lang="es-ES" sz="11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Filtros: </a:t>
            </a:r>
            <a:r>
              <a:rPr lang="es-ES" sz="1100" noProof="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rideable</a:t>
            </a:r>
            <a:r>
              <a:rPr lang="es-ES" sz="11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∈ (</a:t>
            </a:r>
            <a:r>
              <a:rPr lang="es-ES" sz="1100" noProof="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</a:t>
            </a:r>
            <a:r>
              <a:rPr lang="es-ES" sz="11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s-ES" sz="1100" noProof="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</a:t>
            </a:r>
            <a:r>
              <a:rPr lang="es-ES" sz="11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), </a:t>
            </a:r>
            <a:r>
              <a:rPr lang="es-ES" sz="1100" noProof="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member_casual</a:t>
            </a:r>
            <a:r>
              <a:rPr lang="es-ES" sz="11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∈ (</a:t>
            </a:r>
            <a:r>
              <a:rPr lang="es-ES" sz="1100" noProof="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</a:t>
            </a:r>
            <a:r>
              <a:rPr lang="es-ES" sz="11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casual), </a:t>
            </a:r>
            <a:r>
              <a:rPr lang="es-ES" sz="1100" noProof="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station_id</a:t>
            </a:r>
            <a:r>
              <a:rPr lang="es-ES" sz="11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valido.</a:t>
            </a:r>
            <a:endParaRPr lang="es-ES" sz="1300" noProof="0" dirty="0"/>
          </a:p>
          <a:p>
            <a:pPr marL="0" indent="0">
              <a:spcAft>
                <a:spcPts val="400"/>
              </a:spcAft>
              <a:buNone/>
            </a:pPr>
            <a:r>
              <a:rPr lang="es-ES" sz="1100" b="1" noProof="0" dirty="0" err="1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Bounding</a:t>
            </a:r>
            <a:r>
              <a:rPr lang="es-ES" sz="1100" b="1" noProof="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box NY/NJ</a:t>
            </a:r>
            <a:endParaRPr lang="es-ES" sz="1300" noProof="0" dirty="0"/>
          </a:p>
          <a:p>
            <a:pPr marL="0" indent="0">
              <a:spcAft>
                <a:spcPts val="400"/>
              </a:spcAft>
              <a:buNone/>
            </a:pPr>
            <a:r>
              <a:rPr lang="es-ES" sz="1100" noProof="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</a:t>
            </a:r>
            <a:r>
              <a:rPr lang="es-ES" sz="11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∈ [40.4, 41], </a:t>
            </a:r>
            <a:r>
              <a:rPr lang="es-ES" sz="1100" noProof="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lng</a:t>
            </a:r>
            <a:r>
              <a:rPr lang="es-ES" sz="11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∈ [-75, -73] — descarta </a:t>
            </a:r>
            <a:r>
              <a:rPr lang="es-ES" sz="1100" noProof="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stations</a:t>
            </a:r>
            <a:r>
              <a:rPr lang="es-ES" sz="11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demo (LA).</a:t>
            </a:r>
            <a:endParaRPr lang="es-ES" sz="1300" noProof="0" dirty="0"/>
          </a:p>
          <a:p>
            <a:pPr marL="0" indent="0">
              <a:spcAft>
                <a:spcPts val="400"/>
              </a:spcAft>
              <a:buNone/>
            </a:pPr>
            <a:r>
              <a:rPr lang="es-ES" sz="11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 MERGE por </a:t>
            </a:r>
            <a:r>
              <a:rPr lang="es-ES" sz="1100" noProof="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ride_id</a:t>
            </a:r>
            <a:r>
              <a:rPr lang="es-ES" sz="11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ventana </a:t>
            </a:r>
            <a:r>
              <a:rPr lang="es-ES" sz="1100" noProof="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load_ts</a:t>
            </a:r>
            <a:r>
              <a:rPr lang="es-ES" sz="11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&gt; </a:t>
            </a:r>
            <a:r>
              <a:rPr lang="es-ES" sz="1100" noProof="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</a:t>
            </a:r>
            <a:r>
              <a:rPr lang="es-ES" sz="11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s-ES" sz="1300" noProof="0" dirty="0"/>
          </a:p>
        </p:txBody>
      </p:sp>
      <p:sp>
        <p:nvSpPr>
          <p:cNvPr id="8" name="Shape 6"/>
          <p:cNvSpPr/>
          <p:nvPr/>
        </p:nvSpPr>
        <p:spPr>
          <a:xfrm>
            <a:off x="4617720" y="1417320"/>
            <a:ext cx="406908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 noProof="0" dirty="0"/>
          </a:p>
        </p:txBody>
      </p:sp>
      <p:sp>
        <p:nvSpPr>
          <p:cNvPr id="9" name="Shape 7"/>
          <p:cNvSpPr/>
          <p:nvPr/>
        </p:nvSpPr>
        <p:spPr>
          <a:xfrm>
            <a:off x="4617720" y="1417320"/>
            <a:ext cx="4069080" cy="54864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ES" noProof="0" dirty="0"/>
          </a:p>
        </p:txBody>
      </p:sp>
      <p:sp>
        <p:nvSpPr>
          <p:cNvPr id="10" name="Text 8"/>
          <p:cNvSpPr/>
          <p:nvPr/>
        </p:nvSpPr>
        <p:spPr>
          <a:xfrm>
            <a:off x="4617720" y="1417320"/>
            <a:ext cx="4069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sz="1600" b="1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slv</a:t>
            </a:r>
            <a:r>
              <a:rPr lang="es-ES" sz="16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</a:t>
            </a:r>
            <a:r>
              <a:rPr lang="es-E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r>
              <a:rPr lang="es-ES" sz="1600" b="1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ormalizado</a:t>
            </a:r>
            <a:endParaRPr lang="es-ES" sz="1600" b="1" noProof="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800600" y="2103120"/>
            <a:ext cx="37033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s-ES" sz="1300" b="1" noProof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Enriquecimiento + </a:t>
            </a:r>
            <a:r>
              <a:rPr lang="es-ES" sz="1300" b="1" noProof="0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FKs</a:t>
            </a:r>
            <a:endParaRPr lang="es-ES" sz="1300" noProof="0" dirty="0"/>
          </a:p>
          <a:p>
            <a:pPr marL="0" indent="0">
              <a:spcAft>
                <a:spcPts val="400"/>
              </a:spcAft>
              <a:buNone/>
            </a:pPr>
            <a:r>
              <a:rPr lang="es-ES" sz="1100" noProof="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slv_trip</a:t>
            </a:r>
            <a:r>
              <a:rPr lang="es-ES" sz="11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s-ES" sz="1100" noProof="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datediff</a:t>
            </a:r>
            <a:r>
              <a:rPr lang="es-ES" sz="11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s-ES" sz="1100" noProof="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trip_duration_min</a:t>
            </a:r>
            <a:r>
              <a:rPr lang="es-ES" sz="11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ST_DISTANCE con </a:t>
            </a:r>
            <a:r>
              <a:rPr lang="es-ES" sz="1100" noProof="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coords</a:t>
            </a:r>
            <a:r>
              <a:rPr lang="es-ES" sz="11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s-ES" sz="1100" noProof="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canonicas</a:t>
            </a:r>
            <a:r>
              <a:rPr lang="es-ES" sz="11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s-ES" sz="1100" noProof="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</a:t>
            </a:r>
            <a:r>
              <a:rPr lang="es-ES" sz="11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JOIN a </a:t>
            </a:r>
            <a:r>
              <a:rPr lang="es-ES" sz="1100" noProof="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slv_station</a:t>
            </a:r>
            <a:r>
              <a:rPr lang="es-ES" sz="11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s-ES" sz="1300" noProof="0" dirty="0"/>
          </a:p>
          <a:p>
            <a:pPr marL="0" indent="0">
              <a:spcAft>
                <a:spcPts val="400"/>
              </a:spcAft>
              <a:buNone/>
            </a:pPr>
            <a:r>
              <a:rPr lang="es-ES" sz="1100" noProof="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distance_in_km</a:t>
            </a:r>
            <a:r>
              <a:rPr lang="es-ES" sz="11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NULL si round-</a:t>
            </a:r>
            <a:r>
              <a:rPr lang="es-ES" sz="1100" noProof="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</a:t>
            </a:r>
            <a:r>
              <a:rPr lang="es-ES" sz="11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 &gt; 500 km (</a:t>
            </a:r>
            <a:r>
              <a:rPr lang="es-ES" sz="1100" noProof="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</a:t>
            </a:r>
            <a:r>
              <a:rPr lang="es-ES" sz="11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).</a:t>
            </a:r>
            <a:endParaRPr lang="es-ES" sz="1300" noProof="0" dirty="0"/>
          </a:p>
          <a:p>
            <a:pPr marL="0" indent="0">
              <a:spcAft>
                <a:spcPts val="400"/>
              </a:spcAft>
              <a:buNone/>
            </a:pPr>
            <a:r>
              <a:rPr lang="es-ES" sz="1100" noProof="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Surrogate</a:t>
            </a:r>
            <a:r>
              <a:rPr lang="es-ES" sz="11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s-ES" sz="1100" noProof="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</a:t>
            </a:r>
            <a:r>
              <a:rPr lang="es-ES" sz="11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MD5 a </a:t>
            </a:r>
            <a:r>
              <a:rPr lang="es-ES" sz="1100" noProof="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dims</a:t>
            </a:r>
            <a:r>
              <a:rPr lang="es-ES" sz="11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es-ES" sz="1100" noProof="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</a:t>
            </a:r>
            <a:r>
              <a:rPr lang="es-ES" sz="11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s-ES" sz="1100" noProof="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bike</a:t>
            </a:r>
            <a:r>
              <a:rPr lang="es-ES" sz="11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s-ES" sz="1100" noProof="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r>
              <a:rPr lang="es-ES" sz="11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).</a:t>
            </a:r>
            <a:endParaRPr lang="es-ES" sz="1300" noProof="0" dirty="0"/>
          </a:p>
          <a:p>
            <a:pPr marL="0" indent="0">
              <a:spcAft>
                <a:spcPts val="400"/>
              </a:spcAft>
              <a:buNone/>
            </a:pPr>
            <a:r>
              <a:rPr lang="es-ES" sz="1100" b="1" noProof="0" dirty="0" err="1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Lookups</a:t>
            </a:r>
            <a:r>
              <a:rPr lang="es-ES" sz="1100" b="1" noProof="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normalizados</a:t>
            </a:r>
            <a:endParaRPr lang="es-ES" sz="1300" noProof="0" dirty="0"/>
          </a:p>
          <a:p>
            <a:pPr marL="0" indent="0">
              <a:spcAft>
                <a:spcPts val="400"/>
              </a:spcAft>
              <a:buNone/>
            </a:pPr>
            <a:r>
              <a:rPr lang="es-ES" sz="1100" noProof="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slv_quality_flag</a:t>
            </a:r>
            <a:r>
              <a:rPr lang="es-ES" sz="11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es-ES" sz="1100" noProof="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q_flag</a:t>
            </a:r>
            <a:r>
              <a:rPr lang="es-ES" sz="11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</a:t>
            </a:r>
            <a:r>
              <a:rPr lang="es-ES" sz="1100" noProof="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categoria</a:t>
            </a:r>
            <a:r>
              <a:rPr lang="es-ES" sz="11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+ </a:t>
            </a:r>
            <a:r>
              <a:rPr lang="es-ES" sz="1100" noProof="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slv_weather_element</a:t>
            </a:r>
            <a:r>
              <a:rPr lang="es-ES" sz="11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Antes </a:t>
            </a:r>
            <a:r>
              <a:rPr lang="es-ES" sz="1100" noProof="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inline</a:t>
            </a:r>
            <a:r>
              <a:rPr lang="es-ES" sz="11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 el </a:t>
            </a:r>
            <a:r>
              <a:rPr lang="es-ES" sz="1100" noProof="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</a:t>
            </a:r>
            <a:r>
              <a:rPr lang="es-ES" sz="11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s-ES" sz="1300" noProof="0" dirty="0"/>
          </a:p>
          <a:p>
            <a:pPr marL="0" indent="0">
              <a:spcAft>
                <a:spcPts val="400"/>
              </a:spcAft>
              <a:buNone/>
            </a:pPr>
            <a:r>
              <a:rPr lang="es-ES" sz="1100" noProof="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slv_station</a:t>
            </a:r>
            <a:r>
              <a:rPr lang="es-ES" sz="11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s-ES" sz="1100" noProof="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canonico</a:t>
            </a:r>
            <a:r>
              <a:rPr lang="es-ES" sz="11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es-ES" sz="1100" noProof="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row_number</a:t>
            </a:r>
            <a:r>
              <a:rPr lang="es-ES" sz="11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sobre frecuencia + </a:t>
            </a:r>
            <a:r>
              <a:rPr lang="es-ES" sz="1100" noProof="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last_seen</a:t>
            </a:r>
            <a:r>
              <a:rPr lang="es-ES" sz="11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).</a:t>
            </a:r>
            <a:endParaRPr lang="es-ES" sz="1300" noProof="0" dirty="0"/>
          </a:p>
        </p:txBody>
      </p:sp>
      <p:sp>
        <p:nvSpPr>
          <p:cNvPr id="12" name="Text 10"/>
          <p:cNvSpPr/>
          <p:nvPr/>
        </p:nvSpPr>
        <p:spPr>
          <a:xfrm>
            <a:off x="8229600" y="48006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ES" sz="9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11</a:t>
            </a:r>
            <a:endParaRPr lang="es-ES" sz="900" noProof="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100" b="1" kern="0" spc="400" noProof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SCHEMA-PER-DOMAIN PARA OWNERSHIP + PERMISOS</a:t>
            </a:r>
            <a:endParaRPr lang="es-ES" sz="1100" noProof="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2800" b="1" noProof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· 5 dominios</a:t>
            </a:r>
            <a:endParaRPr lang="es-ES" sz="2800" noProof="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201168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 noProof="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2011680" cy="4572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ES" noProof="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sz="1400" b="1" kern="0" spc="3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</a:t>
            </a:r>
            <a:endParaRPr lang="es-ES" sz="1400" noProof="0" dirty="0"/>
          </a:p>
        </p:txBody>
      </p:sp>
      <p:sp>
        <p:nvSpPr>
          <p:cNvPr id="7" name="Text 5"/>
          <p:cNvSpPr/>
          <p:nvPr/>
        </p:nvSpPr>
        <p:spPr>
          <a:xfrm>
            <a:off x="594360" y="2011680"/>
            <a:ext cx="17373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s-ES" sz="1400" noProof="0" dirty="0" err="1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dim_fecha</a:t>
            </a:r>
            <a:endParaRPr lang="es-ES" sz="1400" noProof="0" dirty="0">
              <a:solidFill>
                <a:srgbClr val="1A202C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s-ES" sz="1400" dirty="0">
              <a:solidFill>
                <a:srgbClr val="1A202C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spcAft>
                <a:spcPts val="400"/>
              </a:spcAft>
              <a:buSzPct val="100000"/>
            </a:pPr>
            <a:endParaRPr lang="es-ES" sz="1400" noProof="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s-ES" sz="1400" noProof="0" dirty="0" err="1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dim_city</a:t>
            </a:r>
            <a:endParaRPr lang="es-ES" sz="1400" noProof="0" dirty="0"/>
          </a:p>
        </p:txBody>
      </p:sp>
      <p:sp>
        <p:nvSpPr>
          <p:cNvPr id="8" name="Text 6"/>
          <p:cNvSpPr/>
          <p:nvPr/>
        </p:nvSpPr>
        <p:spPr>
          <a:xfrm>
            <a:off x="640080" y="4154757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" sz="900" i="1" noProof="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Dims</a:t>
            </a:r>
            <a:r>
              <a:rPr lang="es-ES" sz="900" i="1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compartidos por &gt; 1 dominio.</a:t>
            </a:r>
            <a:endParaRPr lang="es-ES" sz="900" noProof="0" dirty="0"/>
          </a:p>
        </p:txBody>
      </p:sp>
      <p:sp>
        <p:nvSpPr>
          <p:cNvPr id="9" name="Shape 7"/>
          <p:cNvSpPr/>
          <p:nvPr/>
        </p:nvSpPr>
        <p:spPr>
          <a:xfrm>
            <a:off x="2560320" y="1417320"/>
            <a:ext cx="201168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 noProof="0" dirty="0"/>
          </a:p>
        </p:txBody>
      </p:sp>
      <p:sp>
        <p:nvSpPr>
          <p:cNvPr id="10" name="Shape 8"/>
          <p:cNvSpPr/>
          <p:nvPr/>
        </p:nvSpPr>
        <p:spPr>
          <a:xfrm>
            <a:off x="2560320" y="1417320"/>
            <a:ext cx="2011680" cy="457200"/>
          </a:xfrm>
          <a:prstGeom prst="rect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s-ES" noProof="0" dirty="0"/>
          </a:p>
        </p:txBody>
      </p:sp>
      <p:sp>
        <p:nvSpPr>
          <p:cNvPr id="11" name="Text 9"/>
          <p:cNvSpPr/>
          <p:nvPr/>
        </p:nvSpPr>
        <p:spPr>
          <a:xfrm>
            <a:off x="2560320" y="14173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sz="1400" b="1" kern="0" spc="3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MOBILITY</a:t>
            </a:r>
            <a:endParaRPr lang="es-ES" sz="1400" noProof="0" dirty="0"/>
          </a:p>
        </p:txBody>
      </p:sp>
      <p:sp>
        <p:nvSpPr>
          <p:cNvPr id="12" name="Text 10"/>
          <p:cNvSpPr/>
          <p:nvPr/>
        </p:nvSpPr>
        <p:spPr>
          <a:xfrm>
            <a:off x="2697480" y="2011680"/>
            <a:ext cx="17373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s-ES" sz="1200" noProof="0" dirty="0" err="1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fct_trips</a:t>
            </a:r>
            <a:r>
              <a:rPr lang="es-ES" sz="1200" noProof="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(table, </a:t>
            </a:r>
            <a:r>
              <a:rPr lang="es-ES" sz="1200" noProof="0" dirty="0" err="1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</a:t>
            </a:r>
            <a:r>
              <a:rPr lang="es-ES" sz="1200" noProof="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.+</a:t>
            </a:r>
            <a:r>
              <a:rPr lang="es-ES" sz="1200" noProof="0" dirty="0" err="1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</a:t>
            </a:r>
            <a:r>
              <a:rPr lang="es-ES" sz="1200" noProof="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s-ES" sz="1200" noProof="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s-ES" sz="1200" noProof="0" dirty="0" err="1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fct_trips_daily</a:t>
            </a:r>
            <a:endParaRPr lang="es-ES" sz="1200" noProof="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s-ES" sz="1200" noProof="0" dirty="0" err="1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dim_rideable_bike</a:t>
            </a:r>
            <a:endParaRPr lang="es-ES" sz="1200" noProof="0" dirty="0">
              <a:solidFill>
                <a:srgbClr val="1A202C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s-ES" sz="1200" noProof="0" dirty="0" err="1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dim_station</a:t>
            </a:r>
            <a:endParaRPr lang="es-ES" sz="1200" dirty="0">
              <a:solidFill>
                <a:srgbClr val="1A202C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s-ES" sz="1200" noProof="0" dirty="0" err="1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dim_user_type</a:t>
            </a:r>
            <a:endParaRPr lang="es-ES" sz="1200" noProof="0" dirty="0"/>
          </a:p>
        </p:txBody>
      </p:sp>
      <p:sp>
        <p:nvSpPr>
          <p:cNvPr id="13" name="Text 11"/>
          <p:cNvSpPr/>
          <p:nvPr/>
        </p:nvSpPr>
        <p:spPr>
          <a:xfrm>
            <a:off x="2697480" y="41605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" sz="900" i="1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lado </a:t>
            </a:r>
            <a:r>
              <a:rPr lang="es-ES" sz="900" i="1" noProof="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CityBike</a:t>
            </a:r>
            <a:r>
              <a:rPr lang="es-ES" sz="900" i="1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~100M filas.</a:t>
            </a:r>
            <a:endParaRPr lang="es-ES" sz="900" noProof="0" dirty="0"/>
          </a:p>
        </p:txBody>
      </p:sp>
      <p:sp>
        <p:nvSpPr>
          <p:cNvPr id="14" name="Shape 12"/>
          <p:cNvSpPr/>
          <p:nvPr/>
        </p:nvSpPr>
        <p:spPr>
          <a:xfrm>
            <a:off x="4663440" y="1417320"/>
            <a:ext cx="201168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 noProof="0" dirty="0"/>
          </a:p>
        </p:txBody>
      </p:sp>
      <p:sp>
        <p:nvSpPr>
          <p:cNvPr id="15" name="Shape 13"/>
          <p:cNvSpPr/>
          <p:nvPr/>
        </p:nvSpPr>
        <p:spPr>
          <a:xfrm>
            <a:off x="4663440" y="1417320"/>
            <a:ext cx="2011680" cy="457200"/>
          </a:xfrm>
          <a:prstGeom prst="rect">
            <a:avLst/>
          </a:prstGeom>
          <a:solidFill>
            <a:srgbClr val="0369A1"/>
          </a:solidFill>
          <a:ln/>
        </p:spPr>
        <p:txBody>
          <a:bodyPr/>
          <a:lstStyle/>
          <a:p>
            <a:endParaRPr lang="es-ES" noProof="0" dirty="0"/>
          </a:p>
        </p:txBody>
      </p:sp>
      <p:sp>
        <p:nvSpPr>
          <p:cNvPr id="16" name="Text 14"/>
          <p:cNvSpPr/>
          <p:nvPr/>
        </p:nvSpPr>
        <p:spPr>
          <a:xfrm>
            <a:off x="4663440" y="14173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sz="1400" b="1" kern="0" spc="3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</a:t>
            </a:r>
            <a:endParaRPr lang="es-ES" sz="1400" noProof="0" dirty="0"/>
          </a:p>
        </p:txBody>
      </p:sp>
      <p:sp>
        <p:nvSpPr>
          <p:cNvPr id="17" name="Text 15"/>
          <p:cNvSpPr/>
          <p:nvPr/>
        </p:nvSpPr>
        <p:spPr>
          <a:xfrm>
            <a:off x="4754880" y="2011680"/>
            <a:ext cx="179499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s-ES" sz="1200" noProof="0" dirty="0" err="1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fct_weather_daily</a:t>
            </a:r>
            <a:r>
              <a:rPr lang="es-ES" sz="1200" noProof="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es-ES" sz="1200" noProof="0" dirty="0" err="1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</a:t>
            </a:r>
            <a:r>
              <a:rPr lang="es-ES" sz="1200" noProof="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.)</a:t>
            </a:r>
            <a:endParaRPr lang="es-ES" sz="1200" noProof="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s-ES" sz="1200" noProof="0" dirty="0" err="1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fct_noaa_corrections</a:t>
            </a:r>
            <a:r>
              <a:rPr lang="es-ES" sz="1200" noProof="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(table + </a:t>
            </a:r>
            <a:r>
              <a:rPr lang="es-ES" sz="1200" noProof="0" dirty="0" err="1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</a:t>
            </a:r>
            <a:r>
              <a:rPr lang="es-ES" sz="1200" noProof="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s-ES" sz="1200" noProof="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s-ES" sz="1200" noProof="0" dirty="0" err="1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dim_station_weather</a:t>
            </a:r>
            <a:endParaRPr lang="es-ES" sz="1200" dirty="0">
              <a:solidFill>
                <a:srgbClr val="1A202C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s-ES" sz="1200" noProof="0" dirty="0" err="1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dim_weather_element</a:t>
            </a:r>
            <a:endParaRPr lang="es-ES" sz="1200" dirty="0">
              <a:solidFill>
                <a:srgbClr val="1A202C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s-ES" sz="1200" noProof="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s-ES" sz="1200" noProof="0" dirty="0" err="1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dim_quality_flag</a:t>
            </a:r>
            <a:endParaRPr lang="es-ES" sz="1200" noProof="0" dirty="0"/>
          </a:p>
        </p:txBody>
      </p:sp>
      <p:sp>
        <p:nvSpPr>
          <p:cNvPr id="18" name="Text 16"/>
          <p:cNvSpPr/>
          <p:nvPr/>
        </p:nvSpPr>
        <p:spPr>
          <a:xfrm>
            <a:off x="4800600" y="41605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" sz="900" i="1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lado NOAA + SCD2 historia.</a:t>
            </a:r>
            <a:endParaRPr lang="es-ES" sz="900" noProof="0" dirty="0"/>
          </a:p>
        </p:txBody>
      </p:sp>
      <p:sp>
        <p:nvSpPr>
          <p:cNvPr id="19" name="Shape 17"/>
          <p:cNvSpPr/>
          <p:nvPr/>
        </p:nvSpPr>
        <p:spPr>
          <a:xfrm>
            <a:off x="6766560" y="1417320"/>
            <a:ext cx="201168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 noProof="0" dirty="0"/>
          </a:p>
        </p:txBody>
      </p:sp>
      <p:sp>
        <p:nvSpPr>
          <p:cNvPr id="20" name="Shape 18"/>
          <p:cNvSpPr/>
          <p:nvPr/>
        </p:nvSpPr>
        <p:spPr>
          <a:xfrm>
            <a:off x="6766560" y="1417320"/>
            <a:ext cx="2011680" cy="4572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s-ES" noProof="0" dirty="0"/>
          </a:p>
        </p:txBody>
      </p:sp>
      <p:sp>
        <p:nvSpPr>
          <p:cNvPr id="21" name="Text 19"/>
          <p:cNvSpPr/>
          <p:nvPr/>
        </p:nvSpPr>
        <p:spPr>
          <a:xfrm>
            <a:off x="6766560" y="14173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sz="1400" b="1" kern="0" spc="3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s-ES" sz="1400" noProof="0" dirty="0"/>
          </a:p>
        </p:txBody>
      </p:sp>
      <p:sp>
        <p:nvSpPr>
          <p:cNvPr id="22" name="Text 20"/>
          <p:cNvSpPr/>
          <p:nvPr/>
        </p:nvSpPr>
        <p:spPr>
          <a:xfrm>
            <a:off x="6903720" y="2011680"/>
            <a:ext cx="17373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s-ES" sz="1100" noProof="0" dirty="0" err="1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fct_trips_weather</a:t>
            </a:r>
            <a:r>
              <a:rPr lang="es-ES" sz="1100" noProof="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es-ES" sz="1100" noProof="0" dirty="0" err="1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</a:t>
            </a:r>
            <a:r>
              <a:rPr lang="es-ES" sz="1100" noProof="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-dominio)</a:t>
            </a:r>
          </a:p>
        </p:txBody>
      </p:sp>
      <p:sp>
        <p:nvSpPr>
          <p:cNvPr id="23" name="Text 21"/>
          <p:cNvSpPr/>
          <p:nvPr/>
        </p:nvSpPr>
        <p:spPr>
          <a:xfrm>
            <a:off x="6903720" y="26517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" sz="900" i="1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Cruces MOBILITY × CLIMA.</a:t>
            </a:r>
            <a:endParaRPr lang="es-ES" sz="900" noProof="0" dirty="0"/>
          </a:p>
        </p:txBody>
      </p:sp>
      <p:sp>
        <p:nvSpPr>
          <p:cNvPr id="24" name="Text 22"/>
          <p:cNvSpPr/>
          <p:nvPr/>
        </p:nvSpPr>
        <p:spPr>
          <a:xfrm>
            <a:off x="8229600" y="48006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ES" sz="9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11</a:t>
            </a:r>
            <a:endParaRPr lang="es-ES" sz="900" noProof="0" dirty="0"/>
          </a:p>
        </p:txBody>
      </p:sp>
      <p:sp>
        <p:nvSpPr>
          <p:cNvPr id="26" name="Shape 3">
            <a:extLst>
              <a:ext uri="{FF2B5EF4-FFF2-40B4-BE49-F238E27FC236}">
                <a16:creationId xmlns:a16="http://schemas.microsoft.com/office/drawing/2014/main" id="{9840B2BC-2A47-8D45-C27C-5B9487023CD3}"/>
              </a:ext>
            </a:extLst>
          </p:cNvPr>
          <p:cNvSpPr/>
          <p:nvPr/>
        </p:nvSpPr>
        <p:spPr>
          <a:xfrm>
            <a:off x="6766560" y="2948940"/>
            <a:ext cx="2011680" cy="457200"/>
          </a:xfrm>
          <a:prstGeom prst="rect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txBody>
          <a:bodyPr/>
          <a:lstStyle/>
          <a:p>
            <a:pPr algn="ctr"/>
            <a:r>
              <a:rPr lang="es-ES" noProof="0" dirty="0">
                <a:solidFill>
                  <a:schemeClr val="bg1"/>
                </a:solidFill>
              </a:rPr>
              <a:t>IA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DAA8C43-0A26-1E74-1F59-B2C3EE57B522}"/>
              </a:ext>
            </a:extLst>
          </p:cNvPr>
          <p:cNvSpPr txBox="1"/>
          <p:nvPr/>
        </p:nvSpPr>
        <p:spPr>
          <a:xfrm>
            <a:off x="6766560" y="3527177"/>
            <a:ext cx="1862610" cy="8207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s-ES" sz="1100" dirty="0" err="1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fct_forecast_trips</a:t>
            </a:r>
            <a:r>
              <a:rPr lang="es-E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es-ES" sz="1100" dirty="0" err="1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Cortex</a:t>
            </a:r>
            <a:r>
              <a:rPr lang="es-E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ML)</a:t>
            </a:r>
            <a:endParaRPr lang="es-E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s-ES" sz="1100" dirty="0" err="1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rep_top_forecast_trips_monthly</a:t>
            </a:r>
            <a:endParaRPr lang="es-ES" sz="1100" dirty="0"/>
          </a:p>
        </p:txBody>
      </p:sp>
      <p:sp>
        <p:nvSpPr>
          <p:cNvPr id="30" name="Text 21">
            <a:extLst>
              <a:ext uri="{FF2B5EF4-FFF2-40B4-BE49-F238E27FC236}">
                <a16:creationId xmlns:a16="http://schemas.microsoft.com/office/drawing/2014/main" id="{3F71296A-7803-1082-2281-CF086C86F116}"/>
              </a:ext>
            </a:extLst>
          </p:cNvPr>
          <p:cNvSpPr/>
          <p:nvPr/>
        </p:nvSpPr>
        <p:spPr>
          <a:xfrm>
            <a:off x="6926580" y="43891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" sz="900" i="1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IA.</a:t>
            </a:r>
            <a:endParaRPr lang="es-ES" sz="900" noProof="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100" b="1" kern="0" spc="400" noProof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CONTRACTS + TESTS EN TODAS LAS CAPAS</a:t>
            </a:r>
            <a:endParaRPr lang="es-ES" sz="1100" noProof="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2800" b="1" noProof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Calidad de datos</a:t>
            </a:r>
            <a:endParaRPr lang="es-ES" sz="2800" noProof="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201168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 noProof="0" dirty="0"/>
          </a:p>
        </p:txBody>
      </p:sp>
      <p:sp>
        <p:nvSpPr>
          <p:cNvPr id="5" name="Text 3"/>
          <p:cNvSpPr/>
          <p:nvPr/>
        </p:nvSpPr>
        <p:spPr>
          <a:xfrm>
            <a:off x="594360" y="160020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300" b="1" noProof="0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Contracts</a:t>
            </a:r>
            <a:r>
              <a:rPr lang="es-ES" sz="1300" b="1" noProof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</a:t>
            </a:r>
            <a:r>
              <a:rPr lang="es-ES" sz="1300" b="1" noProof="0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</a:t>
            </a:r>
            <a:endParaRPr lang="es-ES" sz="1300" noProof="0" dirty="0"/>
          </a:p>
        </p:txBody>
      </p:sp>
      <p:sp>
        <p:nvSpPr>
          <p:cNvPr id="6" name="Text 4"/>
          <p:cNvSpPr/>
          <p:nvPr/>
        </p:nvSpPr>
        <p:spPr>
          <a:xfrm>
            <a:off x="594360" y="20574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2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r>
              <a:rPr lang="es-ES" sz="2800" b="1" noProof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modelos</a:t>
            </a:r>
            <a:endParaRPr lang="es-ES" sz="2800" noProof="0" dirty="0"/>
          </a:p>
        </p:txBody>
      </p:sp>
      <p:sp>
        <p:nvSpPr>
          <p:cNvPr id="7" name="Text 5"/>
          <p:cNvSpPr/>
          <p:nvPr/>
        </p:nvSpPr>
        <p:spPr>
          <a:xfrm>
            <a:off x="594360" y="2651760"/>
            <a:ext cx="173736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s-ES" sz="1000" noProof="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tabla </a:t>
            </a:r>
            <a:r>
              <a:rPr lang="es-ES" sz="1000" noProof="0" dirty="0" err="1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</a:t>
            </a:r>
            <a:r>
              <a:rPr lang="es-ES" sz="1000" noProof="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</a:t>
            </a:r>
            <a:r>
              <a:rPr lang="es-ES" sz="1000" noProof="0" dirty="0" err="1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slv_trip</a:t>
            </a:r>
            <a:endParaRPr lang="es-ES" sz="1000" noProof="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s-ES" sz="1000" noProof="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</a:t>
            </a:r>
            <a:r>
              <a:rPr lang="es-ES" sz="1000" noProof="0" dirty="0" err="1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</a:t>
            </a:r>
            <a:r>
              <a:rPr lang="es-ES" sz="1000" noProof="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{ </a:t>
            </a:r>
            <a:r>
              <a:rPr lang="es-ES" sz="1000" noProof="0" dirty="0" err="1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enforced</a:t>
            </a:r>
            <a:r>
              <a:rPr lang="es-ES" sz="1000" noProof="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true }</a:t>
            </a:r>
            <a:endParaRPr lang="es-ES" sz="1000" noProof="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s-ES" sz="1000" noProof="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PK / NOT NULL a nivel tabla</a:t>
            </a:r>
            <a:endParaRPr lang="es-ES" sz="1000" noProof="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s-ES" sz="1000" noProof="0" dirty="0" err="1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</a:t>
            </a:r>
            <a:r>
              <a:rPr lang="es-ES" sz="1000" noProof="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s-ES" sz="1000" noProof="0" dirty="0" err="1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</a:t>
            </a:r>
            <a:r>
              <a:rPr lang="es-ES" sz="1000" noProof="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NOT NULL;</a:t>
            </a:r>
            <a:endParaRPr lang="es-ES" sz="1000" noProof="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s-ES" sz="1000" noProof="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PK/FK informativos</a:t>
            </a:r>
            <a:endParaRPr lang="es-ES" sz="1000" noProof="0" dirty="0"/>
          </a:p>
        </p:txBody>
      </p:sp>
      <p:sp>
        <p:nvSpPr>
          <p:cNvPr id="8" name="Shape 6"/>
          <p:cNvSpPr/>
          <p:nvPr/>
        </p:nvSpPr>
        <p:spPr>
          <a:xfrm>
            <a:off x="2560320" y="1417320"/>
            <a:ext cx="201168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 noProof="0" dirty="0"/>
          </a:p>
        </p:txBody>
      </p:sp>
      <p:sp>
        <p:nvSpPr>
          <p:cNvPr id="9" name="Text 7"/>
          <p:cNvSpPr/>
          <p:nvPr/>
        </p:nvSpPr>
        <p:spPr>
          <a:xfrm>
            <a:off x="2697480" y="160020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300" b="1" noProof="0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</a:t>
            </a:r>
            <a:r>
              <a:rPr lang="es-ES" sz="1300" b="1" noProof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genéricos</a:t>
            </a:r>
            <a:endParaRPr lang="es-ES" sz="1300" noProof="0" dirty="0"/>
          </a:p>
        </p:txBody>
      </p:sp>
      <p:sp>
        <p:nvSpPr>
          <p:cNvPr id="10" name="Text 8"/>
          <p:cNvSpPr/>
          <p:nvPr/>
        </p:nvSpPr>
        <p:spPr>
          <a:xfrm>
            <a:off x="2697480" y="20574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2800" b="1" noProof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~40 </a:t>
            </a:r>
            <a:r>
              <a:rPr lang="es-ES" sz="2800" b="1" noProof="0" dirty="0" err="1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</a:t>
            </a:r>
            <a:endParaRPr lang="es-ES" sz="2800" noProof="0" dirty="0"/>
          </a:p>
        </p:txBody>
      </p:sp>
      <p:sp>
        <p:nvSpPr>
          <p:cNvPr id="11" name="Text 9"/>
          <p:cNvSpPr/>
          <p:nvPr/>
        </p:nvSpPr>
        <p:spPr>
          <a:xfrm>
            <a:off x="2697480" y="2651760"/>
            <a:ext cx="173736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s-ES" sz="1000" noProof="0" dirty="0" err="1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</a:t>
            </a:r>
            <a:r>
              <a:rPr lang="es-ES" sz="1000" noProof="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s-ES" sz="1000" noProof="0" dirty="0" err="1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not_null</a:t>
            </a:r>
            <a:r>
              <a:rPr lang="es-ES" sz="1000" noProof="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 </a:t>
            </a:r>
            <a:r>
              <a:rPr lang="es-ES" sz="1000" noProof="0" dirty="0" err="1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PKs</a:t>
            </a:r>
            <a:endParaRPr lang="es-ES" sz="1000" noProof="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s-ES" sz="1000" noProof="0" dirty="0" err="1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accepted_values</a:t>
            </a:r>
            <a:r>
              <a:rPr lang="es-ES" sz="1000" noProof="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 </a:t>
            </a:r>
            <a:r>
              <a:rPr lang="es-ES" sz="1000" noProof="0" dirty="0" err="1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categoricos</a:t>
            </a:r>
            <a:endParaRPr lang="es-ES" sz="1000" noProof="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s-ES" sz="1000" noProof="0" dirty="0" err="1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relationships</a:t>
            </a:r>
            <a:r>
              <a:rPr lang="es-ES" sz="1000" noProof="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 </a:t>
            </a:r>
            <a:r>
              <a:rPr lang="es-ES" sz="1000" noProof="0" dirty="0" err="1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FKs</a:t>
            </a:r>
            <a:endParaRPr lang="es-ES" sz="1000" noProof="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s-ES" sz="1000" noProof="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capa que ESTABLECE</a:t>
            </a:r>
            <a:endParaRPr lang="es-ES" sz="1000" noProof="0" dirty="0"/>
          </a:p>
        </p:txBody>
      </p:sp>
      <p:sp>
        <p:nvSpPr>
          <p:cNvPr id="12" name="Shape 10"/>
          <p:cNvSpPr/>
          <p:nvPr/>
        </p:nvSpPr>
        <p:spPr>
          <a:xfrm>
            <a:off x="4663440" y="1417320"/>
            <a:ext cx="201168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 noProof="0" dirty="0"/>
          </a:p>
        </p:txBody>
      </p:sp>
      <p:sp>
        <p:nvSpPr>
          <p:cNvPr id="13" name="Text 11"/>
          <p:cNvSpPr/>
          <p:nvPr/>
        </p:nvSpPr>
        <p:spPr>
          <a:xfrm>
            <a:off x="4800600" y="160020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300" b="1" noProof="0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</a:t>
            </a:r>
            <a:r>
              <a:rPr lang="es-ES" sz="1300" b="1" noProof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singulares</a:t>
            </a:r>
            <a:endParaRPr lang="es-ES" sz="1300" noProof="0" dirty="0"/>
          </a:p>
        </p:txBody>
      </p:sp>
      <p:sp>
        <p:nvSpPr>
          <p:cNvPr id="14" name="Text 12"/>
          <p:cNvSpPr/>
          <p:nvPr/>
        </p:nvSpPr>
        <p:spPr>
          <a:xfrm>
            <a:off x="4800600" y="20574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2800" b="1" noProof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</a:t>
            </a:r>
            <a:r>
              <a:rPr lang="es-ES" sz="2800" b="1" noProof="0" dirty="0" err="1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</a:t>
            </a:r>
            <a:endParaRPr lang="es-ES" sz="2800" noProof="0" dirty="0"/>
          </a:p>
        </p:txBody>
      </p:sp>
      <p:sp>
        <p:nvSpPr>
          <p:cNvPr id="15" name="Text 13"/>
          <p:cNvSpPr/>
          <p:nvPr/>
        </p:nvSpPr>
        <p:spPr>
          <a:xfrm>
            <a:off x="4800600" y="2651760"/>
            <a:ext cx="173736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s-ES" sz="1000" noProof="0" dirty="0" err="1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no_silent_drop</a:t>
            </a:r>
            <a:r>
              <a:rPr lang="es-ES" sz="1000" noProof="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s-ES" sz="1000" noProof="0" dirty="0" err="1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ride_ids</a:t>
            </a:r>
            <a:endParaRPr lang="es-ES" sz="1000" noProof="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s-ES" sz="1000" noProof="0" dirty="0" err="1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partial_month_detection</a:t>
            </a:r>
            <a:endParaRPr lang="es-ES" sz="1000" noProof="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s-ES" sz="1000" noProof="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NOAA </a:t>
            </a:r>
            <a:r>
              <a:rPr lang="es-ES" sz="1000" noProof="0" dirty="0" err="1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</a:t>
            </a:r>
            <a:r>
              <a:rPr lang="es-ES" sz="1000" noProof="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vs </a:t>
            </a:r>
            <a:r>
              <a:rPr lang="es-ES" sz="1000" noProof="0" dirty="0" err="1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</a:t>
            </a:r>
            <a:r>
              <a:rPr lang="es-ES" sz="1000" noProof="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s-ES" sz="1000" noProof="0" dirty="0" err="1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</a:t>
            </a:r>
            <a:r>
              <a:rPr lang="es-ES" sz="1000" noProof="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es-ES" sz="1000" noProof="0" dirty="0" err="1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</a:t>
            </a:r>
            <a:r>
              <a:rPr lang="es-ES" sz="1000" noProof="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</a:t>
            </a:r>
            <a:r>
              <a:rPr lang="es-ES" sz="1000" noProof="0" dirty="0" err="1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</a:t>
            </a:r>
            <a:r>
              <a:rPr lang="es-ES" sz="1000" noProof="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lphaLcParenR"/>
            </a:pPr>
            <a:r>
              <a:rPr lang="es-E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</a:t>
            </a:r>
            <a:r>
              <a:rPr lang="es-ES" sz="1000" dirty="0" err="1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bronze_silver_count_diff</a:t>
            </a:r>
            <a:endParaRPr lang="es-ES" sz="1000" noProof="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s-ES" sz="1000" noProof="0" dirty="0" err="1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weather_station</a:t>
            </a:r>
            <a:r>
              <a:rPr lang="es-ES" sz="1000" noProof="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s-ES" sz="1000" noProof="0" dirty="0" err="1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count_match</a:t>
            </a:r>
            <a:r>
              <a:rPr lang="es-ES" sz="1000" noProof="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es-ES" sz="1000" noProof="0" dirty="0" err="1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</a:t>
            </a:r>
            <a:r>
              <a:rPr lang="es-E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vs </a:t>
            </a:r>
            <a:r>
              <a:rPr lang="es-ES" sz="1000" dirty="0" err="1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slv</a:t>
            </a:r>
            <a:r>
              <a:rPr lang="es-E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s-ES" sz="1000" noProof="0" dirty="0"/>
          </a:p>
        </p:txBody>
      </p:sp>
      <p:sp>
        <p:nvSpPr>
          <p:cNvPr id="16" name="Shape 14"/>
          <p:cNvSpPr/>
          <p:nvPr/>
        </p:nvSpPr>
        <p:spPr>
          <a:xfrm>
            <a:off x="6766560" y="1417320"/>
            <a:ext cx="201168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 noProof="0" dirty="0"/>
          </a:p>
        </p:txBody>
      </p:sp>
      <p:sp>
        <p:nvSpPr>
          <p:cNvPr id="17" name="Text 15"/>
          <p:cNvSpPr/>
          <p:nvPr/>
        </p:nvSpPr>
        <p:spPr>
          <a:xfrm>
            <a:off x="6903720" y="160020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300" b="1" noProof="0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</a:t>
            </a:r>
            <a:r>
              <a:rPr lang="es-ES" sz="1300" b="1" noProof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s-ES" sz="1300" b="1" noProof="0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</a:t>
            </a:r>
            <a:endParaRPr lang="es-ES" sz="1300" noProof="0" dirty="0"/>
          </a:p>
        </p:txBody>
      </p:sp>
      <p:sp>
        <p:nvSpPr>
          <p:cNvPr id="18" name="Text 16"/>
          <p:cNvSpPr/>
          <p:nvPr/>
        </p:nvSpPr>
        <p:spPr>
          <a:xfrm>
            <a:off x="6903720" y="20574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2800" b="1" noProof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</a:t>
            </a:r>
            <a:r>
              <a:rPr lang="es-ES" sz="2800" b="1" noProof="0" dirty="0" err="1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</a:t>
            </a:r>
            <a:endParaRPr lang="es-ES" sz="2800" noProof="0" dirty="0"/>
          </a:p>
        </p:txBody>
      </p:sp>
      <p:sp>
        <p:nvSpPr>
          <p:cNvPr id="19" name="Text 17"/>
          <p:cNvSpPr/>
          <p:nvPr/>
        </p:nvSpPr>
        <p:spPr>
          <a:xfrm>
            <a:off x="6903720" y="2651760"/>
            <a:ext cx="173736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s-ES" sz="1000" noProof="0" dirty="0" err="1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slv_trip</a:t>
            </a:r>
            <a:r>
              <a:rPr lang="es-ES" sz="1000" noProof="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s-ES" sz="1000" noProof="0" dirty="0" err="1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</a:t>
            </a:r>
            <a:r>
              <a:rPr lang="es-ES" sz="1000" noProof="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NULL </a:t>
            </a:r>
            <a:r>
              <a:rPr lang="es-ES" sz="1000" noProof="0" dirty="0" err="1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</a:t>
            </a:r>
            <a:r>
              <a:rPr lang="es-ES" sz="1000" dirty="0"/>
              <a:t> </a:t>
            </a:r>
          </a:p>
          <a:p>
            <a:pPr lvl="1">
              <a:spcAft>
                <a:spcPts val="400"/>
              </a:spcAft>
              <a:buSzPct val="100000"/>
            </a:pPr>
            <a:r>
              <a:rPr lang="es-ES" sz="1000" noProof="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(round </a:t>
            </a:r>
            <a:r>
              <a:rPr lang="es-ES" sz="1000" noProof="0" dirty="0" err="1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</a:t>
            </a:r>
            <a:r>
              <a:rPr lang="es-ES" sz="1000" noProof="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</a:t>
            </a:r>
            <a:r>
              <a:rPr lang="es-ES" sz="1000" noProof="0" dirty="0" err="1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</a:t>
            </a:r>
            <a:r>
              <a:rPr lang="es-ES" sz="1000" noProof="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s-ES" sz="1000" noProof="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s-ES" sz="1000" noProof="0" dirty="0" err="1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fct_weather_daily</a:t>
            </a:r>
            <a:r>
              <a:rPr lang="es-ES" sz="1000" noProof="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s-ES" sz="1000" noProof="0" dirty="0" err="1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s-ES" sz="1000" noProof="0" dirty="0"/>
          </a:p>
          <a:p>
            <a:pPr>
              <a:spcAft>
                <a:spcPts val="400"/>
              </a:spcAft>
              <a:buSzPct val="100000"/>
            </a:pPr>
            <a:r>
              <a:rPr lang="es-E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</a:t>
            </a:r>
            <a:r>
              <a:rPr lang="es-ES" sz="1000" noProof="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(5 escenarios </a:t>
            </a:r>
            <a:r>
              <a:rPr lang="es-ES" sz="1000" noProof="0" dirty="0" err="1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rainy</a:t>
            </a:r>
            <a:r>
              <a:rPr lang="es-ES" sz="1000" noProof="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  <a:r>
              <a:rPr lang="es-ES" sz="1000" noProof="0" dirty="0" err="1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snowy</a:t>
            </a:r>
            <a:r>
              <a:rPr lang="es-ES" sz="1000" noProof="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/...)</a:t>
            </a:r>
            <a:endParaRPr lang="es-ES" sz="1000" noProof="0" dirty="0"/>
          </a:p>
        </p:txBody>
      </p:sp>
      <p:sp>
        <p:nvSpPr>
          <p:cNvPr id="20" name="Text 18"/>
          <p:cNvSpPr/>
          <p:nvPr/>
        </p:nvSpPr>
        <p:spPr>
          <a:xfrm>
            <a:off x="8229600" y="48006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ES" sz="9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11</a:t>
            </a:r>
            <a:endParaRPr lang="es-ES" sz="900" noProof="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100" b="1" kern="0" spc="400" noProof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· CONSUMO FINAL</a:t>
            </a:r>
            <a:endParaRPr lang="es-ES" sz="1100" noProof="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2800" b="1" noProof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· </a:t>
            </a:r>
            <a:r>
              <a:rPr lang="es-ES" sz="2800" b="1" noProof="0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</a:t>
            </a:r>
            <a:endParaRPr lang="es-ES" sz="2800" noProof="0" dirty="0"/>
          </a:p>
        </p:txBody>
      </p:sp>
      <p:sp>
        <p:nvSpPr>
          <p:cNvPr id="8" name="Text 6"/>
          <p:cNvSpPr/>
          <p:nvPr/>
        </p:nvSpPr>
        <p:spPr>
          <a:xfrm>
            <a:off x="4709160" y="39401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s-ES" sz="1100" noProof="0" dirty="0"/>
          </a:p>
        </p:txBody>
      </p:sp>
      <p:sp>
        <p:nvSpPr>
          <p:cNvPr id="14" name="Text 12"/>
          <p:cNvSpPr/>
          <p:nvPr/>
        </p:nvSpPr>
        <p:spPr>
          <a:xfrm>
            <a:off x="300225" y="39401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sz="1100" dirty="0"/>
              <a:t>Total de Viajes por ciudad. Leyenda: tipo de clima</a:t>
            </a:r>
            <a:endParaRPr lang="es-ES" sz="1100" noProof="0" dirty="0"/>
          </a:p>
        </p:txBody>
      </p:sp>
      <p:sp>
        <p:nvSpPr>
          <p:cNvPr id="17" name="Text 15"/>
          <p:cNvSpPr/>
          <p:nvPr/>
        </p:nvSpPr>
        <p:spPr>
          <a:xfrm>
            <a:off x="8229600" y="48006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ES" sz="9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11</a:t>
            </a:r>
            <a:endParaRPr lang="es-ES" sz="900" noProof="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83F09160-48EE-94CF-FCBA-445683DE1A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345" y="1309486"/>
            <a:ext cx="4271775" cy="2469193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0C36718A-ED0E-1F21-320D-9858DDF9D9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467" y="1309486"/>
            <a:ext cx="4480093" cy="2524527"/>
          </a:xfrm>
          <a:prstGeom prst="rect">
            <a:avLst/>
          </a:prstGeom>
        </p:spPr>
      </p:pic>
      <p:sp>
        <p:nvSpPr>
          <p:cNvPr id="22" name="Text 12">
            <a:extLst>
              <a:ext uri="{FF2B5EF4-FFF2-40B4-BE49-F238E27FC236}">
                <a16:creationId xmlns:a16="http://schemas.microsoft.com/office/drawing/2014/main" id="{62667640-0052-C6EE-F75A-06C84BA10DF4}"/>
              </a:ext>
            </a:extLst>
          </p:cNvPr>
          <p:cNvSpPr/>
          <p:nvPr/>
        </p:nvSpPr>
        <p:spPr>
          <a:xfrm>
            <a:off x="4572467" y="39401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sz="1100" dirty="0"/>
              <a:t>Promedio de </a:t>
            </a:r>
            <a:r>
              <a:rPr lang="es-ES" sz="1100" dirty="0" err="1"/>
              <a:t>TempMAX</a:t>
            </a:r>
            <a:r>
              <a:rPr lang="es-ES" sz="1100" dirty="0"/>
              <a:t>, Precipitación y Nieve </a:t>
            </a:r>
          </a:p>
          <a:p>
            <a:pPr marL="0" indent="0" algn="ctr">
              <a:buNone/>
            </a:pPr>
            <a:r>
              <a:rPr lang="es-ES" sz="1100" dirty="0"/>
              <a:t>Por ciudad y estación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A94DAD-C0F8-0624-F5B4-E44ECC7806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5ED42B7-0956-C566-52E6-31C9ED95F87C}"/>
              </a:ext>
            </a:extLst>
          </p:cNvPr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100" b="1" kern="0" spc="400" noProof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· CONSUMO FINAL</a:t>
            </a:r>
            <a:endParaRPr lang="es-ES" sz="1100" noProof="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D25F754-4D6D-DF07-5B75-6D012D23E255}"/>
              </a:ext>
            </a:extLst>
          </p:cNvPr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2800" b="1" noProof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· </a:t>
            </a:r>
            <a:r>
              <a:rPr lang="es-ES" sz="2800" b="1" noProof="0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</a:t>
            </a:r>
            <a:endParaRPr lang="es-ES" sz="2800" noProof="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0BF28DAD-EF70-4C1C-CDC2-203626C5EDB8}"/>
              </a:ext>
            </a:extLst>
          </p:cNvPr>
          <p:cNvSpPr/>
          <p:nvPr/>
        </p:nvSpPr>
        <p:spPr>
          <a:xfrm>
            <a:off x="4709160" y="39401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s-ES" sz="1100" noProof="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AB21A66E-A07C-5A25-CE23-5FD16826FE3E}"/>
              </a:ext>
            </a:extLst>
          </p:cNvPr>
          <p:cNvSpPr/>
          <p:nvPr/>
        </p:nvSpPr>
        <p:spPr>
          <a:xfrm>
            <a:off x="8229600" y="48006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ES" sz="9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11</a:t>
            </a:r>
            <a:endParaRPr lang="es-ES" sz="900" noProof="0" dirty="0"/>
          </a:p>
        </p:txBody>
      </p:sp>
      <p:sp>
        <p:nvSpPr>
          <p:cNvPr id="22" name="Text 12">
            <a:extLst>
              <a:ext uri="{FF2B5EF4-FFF2-40B4-BE49-F238E27FC236}">
                <a16:creationId xmlns:a16="http://schemas.microsoft.com/office/drawing/2014/main" id="{D6CD6DE1-81D9-CF9D-BE29-019737099052}"/>
              </a:ext>
            </a:extLst>
          </p:cNvPr>
          <p:cNvSpPr/>
          <p:nvPr/>
        </p:nvSpPr>
        <p:spPr>
          <a:xfrm>
            <a:off x="4860048" y="3900459"/>
            <a:ext cx="3931920" cy="562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sz="1100" dirty="0"/>
              <a:t>Duración y Distancia Promedia</a:t>
            </a:r>
          </a:p>
          <a:p>
            <a:pPr marL="0" indent="0" algn="ctr">
              <a:buNone/>
            </a:pPr>
            <a:r>
              <a:rPr lang="es-ES" sz="1100" dirty="0"/>
              <a:t>Por Tipo de Miembro y Tipo de Bici</a:t>
            </a:r>
          </a:p>
        </p:txBody>
      </p:sp>
      <p:sp>
        <p:nvSpPr>
          <p:cNvPr id="11" name="Text 12">
            <a:extLst>
              <a:ext uri="{FF2B5EF4-FFF2-40B4-BE49-F238E27FC236}">
                <a16:creationId xmlns:a16="http://schemas.microsoft.com/office/drawing/2014/main" id="{88C0356E-C0A1-2D54-ED20-A24CBD5C73AC}"/>
              </a:ext>
            </a:extLst>
          </p:cNvPr>
          <p:cNvSpPr/>
          <p:nvPr/>
        </p:nvSpPr>
        <p:spPr>
          <a:xfrm>
            <a:off x="457201" y="3900459"/>
            <a:ext cx="3931920" cy="562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sz="1100" dirty="0"/>
              <a:t>Suma de Viajes </a:t>
            </a:r>
          </a:p>
          <a:p>
            <a:pPr marL="0" indent="0" algn="ctr">
              <a:buNone/>
            </a:pPr>
            <a:r>
              <a:rPr lang="es-ES" sz="1100" dirty="0"/>
              <a:t>por </a:t>
            </a:r>
          </a:p>
          <a:p>
            <a:pPr marL="0" indent="0" algn="ctr">
              <a:buNone/>
            </a:pPr>
            <a:r>
              <a:rPr lang="es-ES" sz="1100" dirty="0"/>
              <a:t>Temperatura Maxima y Categoría de Clima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4860926-5D94-465E-F3E2-0C1FE603E4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37" y="1242528"/>
            <a:ext cx="4517663" cy="2546181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34FF36F6-25EC-175B-BA3D-30AB9D1F35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9456" y="1283838"/>
            <a:ext cx="4453104" cy="2504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11937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78C70A-3973-9E4E-2045-3F74026AA7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D03D5CD-EF65-E361-667D-8C9DE595CC8E}"/>
              </a:ext>
            </a:extLst>
          </p:cNvPr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100" b="1" kern="0" spc="400" noProof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· CONSUMO FINAL</a:t>
            </a:r>
            <a:endParaRPr lang="es-ES" sz="1100" noProof="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48DC0AB-6C42-AEFA-C0CC-AACF79DDB322}"/>
              </a:ext>
            </a:extLst>
          </p:cNvPr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2800" b="1" noProof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· </a:t>
            </a:r>
            <a:r>
              <a:rPr lang="es-ES" sz="2800" b="1" noProof="0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</a:t>
            </a:r>
            <a:endParaRPr lang="es-ES" sz="2800" noProof="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9267C32D-94EB-87AB-AE58-071BE4958D4A}"/>
              </a:ext>
            </a:extLst>
          </p:cNvPr>
          <p:cNvSpPr/>
          <p:nvPr/>
        </p:nvSpPr>
        <p:spPr>
          <a:xfrm>
            <a:off x="4709160" y="39401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s-ES" sz="1100" noProof="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5335383B-BDE7-5017-B696-674C3BDB98F0}"/>
              </a:ext>
            </a:extLst>
          </p:cNvPr>
          <p:cNvSpPr/>
          <p:nvPr/>
        </p:nvSpPr>
        <p:spPr>
          <a:xfrm>
            <a:off x="8229600" y="48006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ES" sz="9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11</a:t>
            </a:r>
            <a:endParaRPr lang="es-ES" sz="900" noProof="0" dirty="0"/>
          </a:p>
        </p:txBody>
      </p:sp>
      <p:sp>
        <p:nvSpPr>
          <p:cNvPr id="4" name="Text 12">
            <a:extLst>
              <a:ext uri="{FF2B5EF4-FFF2-40B4-BE49-F238E27FC236}">
                <a16:creationId xmlns:a16="http://schemas.microsoft.com/office/drawing/2014/main" id="{728AF1BB-C707-AC8E-E782-979BBCFAD8DE}"/>
              </a:ext>
            </a:extLst>
          </p:cNvPr>
          <p:cNvSpPr/>
          <p:nvPr/>
        </p:nvSpPr>
        <p:spPr>
          <a:xfrm>
            <a:off x="1845787" y="4653263"/>
            <a:ext cx="460111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sz="1100" dirty="0"/>
              <a:t>Total viajes &gt; 42.000 por estación. </a:t>
            </a:r>
            <a:r>
              <a:rPr lang="es-ES" sz="1100" dirty="0" err="1"/>
              <a:t>Bubble</a:t>
            </a:r>
            <a:r>
              <a:rPr lang="es-ES" sz="1100" dirty="0"/>
              <a:t> </a:t>
            </a:r>
            <a:r>
              <a:rPr lang="es-ES" sz="1100" dirty="0" err="1"/>
              <a:t>size</a:t>
            </a:r>
            <a:r>
              <a:rPr lang="es-ES" sz="1100" dirty="0"/>
              <a:t> y color por densidad de viajes</a:t>
            </a:r>
            <a:endParaRPr lang="es-ES" sz="1100" noProof="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DB4E4EB-CD9E-FD76-0D31-1BE6043CD9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4867" y="1143000"/>
            <a:ext cx="5909953" cy="3437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85051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719630"/>
            <a:ext cx="548640" cy="7315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s-ES" noProof="0" dirty="0"/>
          </a:p>
        </p:txBody>
      </p:sp>
      <p:sp>
        <p:nvSpPr>
          <p:cNvPr id="3" name="Text 1"/>
          <p:cNvSpPr/>
          <p:nvPr/>
        </p:nvSpPr>
        <p:spPr>
          <a:xfrm>
            <a:off x="502920" y="36576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s-ES" sz="4800" noProof="0" dirty="0"/>
          </a:p>
        </p:txBody>
      </p:sp>
      <p:sp>
        <p:nvSpPr>
          <p:cNvPr id="4" name="Text 2"/>
          <p:cNvSpPr/>
          <p:nvPr/>
        </p:nvSpPr>
        <p:spPr>
          <a:xfrm>
            <a:off x="457200" y="900377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400" b="1" kern="0" spc="300" noProof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se construyo</a:t>
            </a:r>
            <a:endParaRPr lang="es-ES" sz="1400" noProof="0" dirty="0"/>
          </a:p>
        </p:txBody>
      </p:sp>
      <p:sp>
        <p:nvSpPr>
          <p:cNvPr id="5" name="Text 3"/>
          <p:cNvSpPr/>
          <p:nvPr/>
        </p:nvSpPr>
        <p:spPr>
          <a:xfrm>
            <a:off x="731520" y="1266137"/>
            <a:ext cx="77724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○"/>
            </a:pPr>
            <a:r>
              <a:rPr lang="es-ES" sz="14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</a:t>
            </a:r>
            <a:r>
              <a:rPr lang="es-ES" sz="1400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medallion</a:t>
            </a:r>
            <a:r>
              <a:rPr lang="es-ES" sz="14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completo Bronze → Silver → Gold con </a:t>
            </a:r>
            <a:r>
              <a:rPr lang="es-ES" sz="1400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dbt</a:t>
            </a:r>
            <a:r>
              <a:rPr lang="es-ES" sz="14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</a:t>
            </a:r>
            <a:r>
              <a:rPr lang="es-ES" sz="1400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</a:t>
            </a:r>
            <a:endParaRPr lang="es-ES" sz="1400" noProof="0" dirty="0"/>
          </a:p>
          <a:p>
            <a:pPr marL="342900" indent="-342900">
              <a:spcAft>
                <a:spcPts val="600"/>
              </a:spcAft>
              <a:buSzPct val="100000"/>
              <a:buChar char="○"/>
            </a:pPr>
            <a:r>
              <a:rPr lang="es-ES" sz="1400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</a:t>
            </a:r>
            <a:r>
              <a:rPr lang="es-ES" sz="14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SCD2 para captura de correcciones NOAA</a:t>
            </a:r>
            <a:endParaRPr lang="es-ES" sz="1400" noProof="0" dirty="0"/>
          </a:p>
          <a:p>
            <a:pPr marL="342900" indent="-342900">
              <a:spcAft>
                <a:spcPts val="600"/>
              </a:spcAft>
              <a:buSzPct val="100000"/>
              <a:buChar char="○"/>
            </a:pPr>
            <a:r>
              <a:rPr lang="es-ES" sz="14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dividida en 5 dominios (CORE / MOBILITY / CLIMA / ANALYTICS/IA)</a:t>
            </a:r>
            <a:endParaRPr lang="es-ES" sz="1400" noProof="0" dirty="0"/>
          </a:p>
          <a:p>
            <a:pPr marL="342900" indent="-342900">
              <a:spcAft>
                <a:spcPts val="600"/>
              </a:spcAft>
              <a:buSzPct val="100000"/>
              <a:buChar char="○"/>
            </a:pPr>
            <a:r>
              <a:rPr lang="es-ES" sz="14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Calidad de datos: </a:t>
            </a:r>
            <a:r>
              <a:rPr lang="es-ES" sz="1400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contracts</a:t>
            </a:r>
            <a:r>
              <a:rPr lang="es-ES" sz="14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</a:t>
            </a:r>
            <a:r>
              <a:rPr lang="es-ES" sz="1400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</a:t>
            </a:r>
            <a:r>
              <a:rPr lang="es-ES" sz="14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s-ES" sz="1400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</a:t>
            </a:r>
            <a:r>
              <a:rPr lang="es-ES" sz="14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singular </a:t>
            </a:r>
            <a:r>
              <a:rPr lang="es-ES" sz="1400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</a:t>
            </a:r>
            <a:r>
              <a:rPr lang="es-ES" sz="14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</a:t>
            </a:r>
            <a:r>
              <a:rPr lang="es-ES" sz="1400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r>
              <a:rPr lang="es-ES" sz="14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s-ES" sz="1400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freshness</a:t>
            </a:r>
            <a:endParaRPr lang="es-ES" sz="1400" noProof="0" dirty="0"/>
          </a:p>
          <a:p>
            <a:pPr marL="342900" indent="-342900">
              <a:spcAft>
                <a:spcPts val="600"/>
              </a:spcAft>
              <a:buSzPct val="100000"/>
              <a:buChar char="○"/>
            </a:pPr>
            <a:r>
              <a:rPr lang="es-ES" sz="1400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Cortex</a:t>
            </a:r>
            <a:r>
              <a:rPr lang="es-ES" sz="14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ML.FORECAST integrado como modelo </a:t>
            </a:r>
            <a:r>
              <a:rPr lang="es-ES" sz="1400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dbt</a:t>
            </a:r>
            <a:r>
              <a:rPr lang="es-ES" sz="14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s-ES" sz="1400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downstream</a:t>
            </a:r>
            <a:endParaRPr lang="es-ES" sz="1400" noProof="0" dirty="0"/>
          </a:p>
        </p:txBody>
      </p:sp>
      <p:sp>
        <p:nvSpPr>
          <p:cNvPr id="6" name="Text 4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ES" sz="1100" noProof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Rodrigo </a:t>
            </a:r>
            <a:r>
              <a:rPr lang="es-ES" sz="1100" noProof="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Lizaran</a:t>
            </a:r>
            <a:r>
              <a:rPr lang="es-ES" sz="1100" noProof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rlizaran97@gmail.com</a:t>
            </a:r>
            <a:endParaRPr lang="es-ES" sz="1100" noProof="0" dirty="0"/>
          </a:p>
        </p:txBody>
      </p:sp>
      <p:sp>
        <p:nvSpPr>
          <p:cNvPr id="7" name="Text 1">
            <a:extLst>
              <a:ext uri="{FF2B5EF4-FFF2-40B4-BE49-F238E27FC236}">
                <a16:creationId xmlns:a16="http://schemas.microsoft.com/office/drawing/2014/main" id="{651297A3-0EA4-1465-ECB5-344F2DE65BAA}"/>
              </a:ext>
            </a:extLst>
          </p:cNvPr>
          <p:cNvSpPr/>
          <p:nvPr/>
        </p:nvSpPr>
        <p:spPr>
          <a:xfrm>
            <a:off x="182880" y="3056229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sz="4800" b="1" kern="0" spc="4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+ </a:t>
            </a:r>
            <a:r>
              <a:rPr lang="es-ES" sz="4800" b="1" kern="0" spc="400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s-ES" sz="4800" noProof="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244</TotalTime>
  <Words>1852</Words>
  <Application>Microsoft Office PowerPoint</Application>
  <PresentationFormat>On-screen Show (16:9)</PresentationFormat>
  <Paragraphs>269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Snowflake + dbt Pipeline — CityBike + NOAA</dc:title>
  <dc:subject>PptxGenJS Presentation</dc:subject>
  <dc:creator>Rodrigo Lizaran</dc:creator>
  <cp:lastModifiedBy>de57</cp:lastModifiedBy>
  <cp:revision>5</cp:revision>
  <dcterms:created xsi:type="dcterms:W3CDTF">2026-05-19T07:41:25Z</dcterms:created>
  <dcterms:modified xsi:type="dcterms:W3CDTF">2026-05-19T20:56:37Z</dcterms:modified>
</cp:coreProperties>
</file>